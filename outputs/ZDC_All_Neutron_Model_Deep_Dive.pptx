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90561ad3c4a53" /><Relationship Type="http://schemas.openxmlformats.org/officeDocument/2006/relationships/extended-properties" Target="/docProps/app.xml" Id="R045597b0398b4943" /><Relationship Type="http://schemas.openxmlformats.org/officeDocument/2006/relationships/officeDocument" Target="/ppt/presentation.xml" Id="R8bf6da2994a546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81bdd7d11a4963"/>
  </p:sldMasterIdLst>
  <p:notesMasterIdLst>
    <p:notesMasterId xmlns:r="http://schemas.openxmlformats.org/officeDocument/2006/relationships" r:id="Rc4ca8182503f495b"/>
  </p:notesMasterIdLst>
  <p:sldIdLst>
    <p:sldId xmlns:r="http://schemas.openxmlformats.org/officeDocument/2006/relationships" id="256" r:id="R34119131f3f54c41"/>
    <p:sldId xmlns:r="http://schemas.openxmlformats.org/officeDocument/2006/relationships" id="257" r:id="Ra08c8b210e0d4a40"/>
    <p:sldId xmlns:r="http://schemas.openxmlformats.org/officeDocument/2006/relationships" id="258" r:id="Rcd13c9dc01804d0c"/>
    <p:sldId xmlns:r="http://schemas.openxmlformats.org/officeDocument/2006/relationships" id="259" r:id="R18426b5e7fd748ba"/>
    <p:sldId xmlns:r="http://schemas.openxmlformats.org/officeDocument/2006/relationships" id="260" r:id="R23a3dca2e644466e"/>
    <p:sldId xmlns:r="http://schemas.openxmlformats.org/officeDocument/2006/relationships" id="261" r:id="R4e8136a2e1084f22"/>
    <p:sldId xmlns:r="http://schemas.openxmlformats.org/officeDocument/2006/relationships" id="262" r:id="R6ce7e36c935547a2"/>
    <p:sldId xmlns:r="http://schemas.openxmlformats.org/officeDocument/2006/relationships" id="263" r:id="Re6ab7f702d1542ba"/>
    <p:sldId xmlns:r="http://schemas.openxmlformats.org/officeDocument/2006/relationships" id="264" r:id="Ra78a5f1994834131"/>
    <p:sldId xmlns:r="http://schemas.openxmlformats.org/officeDocument/2006/relationships" id="265" r:id="R807aa2638c6d4189"/>
    <p:sldId xmlns:r="http://schemas.openxmlformats.org/officeDocument/2006/relationships" id="266" r:id="R260f53a2f0934c11"/>
    <p:sldId xmlns:r="http://schemas.openxmlformats.org/officeDocument/2006/relationships" id="267" r:id="R7e50a2e1646f45a5"/>
    <p:sldId xmlns:r="http://schemas.openxmlformats.org/officeDocument/2006/relationships" id="268" r:id="R156ee2ca40914a19"/>
    <p:sldId xmlns:r="http://schemas.openxmlformats.org/officeDocument/2006/relationships" id="269" r:id="Rb62f023da9f44df8"/>
    <p:sldId xmlns:r="http://schemas.openxmlformats.org/officeDocument/2006/relationships" id="270" r:id="R9c32dec9ca4d43cf"/>
    <p:sldId xmlns:r="http://schemas.openxmlformats.org/officeDocument/2006/relationships" id="271" r:id="R9d395dc186e74bbe"/>
    <p:sldId xmlns:r="http://schemas.openxmlformats.org/officeDocument/2006/relationships" id="272" r:id="Rbd7c29d87e724b8b"/>
    <p:sldId xmlns:r="http://schemas.openxmlformats.org/officeDocument/2006/relationships" id="273" r:id="R3d286a7f9fb04a39"/>
    <p:sldId xmlns:r="http://schemas.openxmlformats.org/officeDocument/2006/relationships" id="274" r:id="Re531992048dd4cc4"/>
    <p:sldId xmlns:r="http://schemas.openxmlformats.org/officeDocument/2006/relationships" id="275" r:id="R2d3d5e98c8564562"/>
    <p:sldId xmlns:r="http://schemas.openxmlformats.org/officeDocument/2006/relationships" id="276" r:id="Ra6fea519487b4622"/>
    <p:sldId xmlns:r="http://schemas.openxmlformats.org/officeDocument/2006/relationships" id="277" r:id="Rc680857e75b542af"/>
    <p:sldId xmlns:r="http://schemas.openxmlformats.org/officeDocument/2006/relationships" id="278" r:id="R1726faf5dcba4c5b"/>
    <p:sldId xmlns:r="http://schemas.openxmlformats.org/officeDocument/2006/relationships" id="279" r:id="Rb87ab823e5e04ba6"/>
    <p:sldId xmlns:r="http://schemas.openxmlformats.org/officeDocument/2006/relationships" id="280" r:id="R15f95ae0eacb49cb"/>
    <p:sldId xmlns:r="http://schemas.openxmlformats.org/officeDocument/2006/relationships" id="281" r:id="R62b6a995941046b3"/>
    <p:sldId xmlns:r="http://schemas.openxmlformats.org/officeDocument/2006/relationships" id="282" r:id="R8941ae5258fd404a"/>
    <p:sldId xmlns:r="http://schemas.openxmlformats.org/officeDocument/2006/relationships" id="283" r:id="Rd92d10b0dbdf4b86"/>
    <p:sldId xmlns:r="http://schemas.openxmlformats.org/officeDocument/2006/relationships" id="284" r:id="R179dbb31dcd941f2"/>
    <p:sldId xmlns:r="http://schemas.openxmlformats.org/officeDocument/2006/relationships" id="285" r:id="R6a933061036b4863"/>
    <p:sldId xmlns:r="http://schemas.openxmlformats.org/officeDocument/2006/relationships" id="286" r:id="R59b57ba9291044fa"/>
    <p:sldId xmlns:r="http://schemas.openxmlformats.org/officeDocument/2006/relationships" id="287" r:id="R9a3c4dcc93ff4a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69aea91964313" /><Relationship Type="http://schemas.openxmlformats.org/officeDocument/2006/relationships/slideMaster" Target="/ppt/slideMasters/slideMaster1.xml" Id="R8281bdd7d11a4963" /><Relationship Type="http://schemas.openxmlformats.org/officeDocument/2006/relationships/notesMaster" Target="/ppt/notesMasters/notesMaster1.xml" Id="Rc4ca8182503f495b" /><Relationship Type="http://schemas.openxmlformats.org/officeDocument/2006/relationships/presProps" Target="/ppt/presProps.xml" Id="Rf317486853c040e7" /><Relationship Type="http://schemas.openxmlformats.org/officeDocument/2006/relationships/tableStyles" Target="/ppt/tableStyles.xml" Id="R9b68022bfed64b3d" /><Relationship Type="http://schemas.openxmlformats.org/officeDocument/2006/relationships/slide" Target="/ppt/slides/slide1.xml" Id="R34119131f3f54c41" /><Relationship Type="http://schemas.openxmlformats.org/officeDocument/2006/relationships/slide" Target="/ppt/slides/slide2.xml" Id="Ra08c8b210e0d4a40" /><Relationship Type="http://schemas.openxmlformats.org/officeDocument/2006/relationships/slide" Target="/ppt/slides/slide3.xml" Id="Rcd13c9dc01804d0c" /><Relationship Type="http://schemas.openxmlformats.org/officeDocument/2006/relationships/slide" Target="/ppt/slides/slide4.xml" Id="R18426b5e7fd748ba" /><Relationship Type="http://schemas.openxmlformats.org/officeDocument/2006/relationships/slide" Target="/ppt/slides/slide5.xml" Id="R23a3dca2e644466e" /><Relationship Type="http://schemas.openxmlformats.org/officeDocument/2006/relationships/slide" Target="/ppt/slides/slide6.xml" Id="R4e8136a2e1084f22" /><Relationship Type="http://schemas.openxmlformats.org/officeDocument/2006/relationships/slide" Target="/ppt/slides/slide7.xml" Id="R6ce7e36c935547a2" /><Relationship Type="http://schemas.openxmlformats.org/officeDocument/2006/relationships/slide" Target="/ppt/slides/slide8.xml" Id="Re6ab7f702d1542ba" /><Relationship Type="http://schemas.openxmlformats.org/officeDocument/2006/relationships/slide" Target="/ppt/slides/slide9.xml" Id="Ra78a5f1994834131" /><Relationship Type="http://schemas.openxmlformats.org/officeDocument/2006/relationships/slide" Target="/ppt/slides/slide10.xml" Id="R807aa2638c6d4189" /><Relationship Type="http://schemas.openxmlformats.org/officeDocument/2006/relationships/slide" Target="/ppt/slides/slide11.xml" Id="R260f53a2f0934c11" /><Relationship Type="http://schemas.openxmlformats.org/officeDocument/2006/relationships/slide" Target="/ppt/slides/slide12.xml" Id="R7e50a2e1646f45a5" /><Relationship Type="http://schemas.openxmlformats.org/officeDocument/2006/relationships/slide" Target="/ppt/slides/slide13.xml" Id="R156ee2ca40914a19" /><Relationship Type="http://schemas.openxmlformats.org/officeDocument/2006/relationships/slide" Target="/ppt/slides/slide14.xml" Id="Rb62f023da9f44df8" /><Relationship Type="http://schemas.openxmlformats.org/officeDocument/2006/relationships/slide" Target="/ppt/slides/slide15.xml" Id="R9c32dec9ca4d43cf" /><Relationship Type="http://schemas.openxmlformats.org/officeDocument/2006/relationships/slide" Target="/ppt/slides/slide16.xml" Id="R9d395dc186e74bbe" /><Relationship Type="http://schemas.openxmlformats.org/officeDocument/2006/relationships/slide" Target="/ppt/slides/slide17.xml" Id="Rbd7c29d87e724b8b" /><Relationship Type="http://schemas.openxmlformats.org/officeDocument/2006/relationships/slide" Target="/ppt/slides/slide18.xml" Id="R3d286a7f9fb04a39" /><Relationship Type="http://schemas.openxmlformats.org/officeDocument/2006/relationships/slide" Target="/ppt/slides/slide19.xml" Id="Re531992048dd4cc4" /><Relationship Type="http://schemas.openxmlformats.org/officeDocument/2006/relationships/slide" Target="/ppt/slides/slide20.xml" Id="R2d3d5e98c8564562" /><Relationship Type="http://schemas.openxmlformats.org/officeDocument/2006/relationships/slide" Target="/ppt/slides/slide21.xml" Id="Ra6fea519487b4622" /><Relationship Type="http://schemas.openxmlformats.org/officeDocument/2006/relationships/slide" Target="/ppt/slides/slide22.xml" Id="Rc680857e75b542af" /><Relationship Type="http://schemas.openxmlformats.org/officeDocument/2006/relationships/slide" Target="/ppt/slides/slide23.xml" Id="R1726faf5dcba4c5b" /><Relationship Type="http://schemas.openxmlformats.org/officeDocument/2006/relationships/slide" Target="/ppt/slides/slide24.xml" Id="Rb87ab823e5e04ba6" /><Relationship Type="http://schemas.openxmlformats.org/officeDocument/2006/relationships/slide" Target="/ppt/slides/slide25.xml" Id="R15f95ae0eacb49cb" /><Relationship Type="http://schemas.openxmlformats.org/officeDocument/2006/relationships/slide" Target="/ppt/slides/slide26.xml" Id="R62b6a995941046b3" /><Relationship Type="http://schemas.openxmlformats.org/officeDocument/2006/relationships/slide" Target="/ppt/slides/slide27.xml" Id="R8941ae5258fd404a" /><Relationship Type="http://schemas.openxmlformats.org/officeDocument/2006/relationships/slide" Target="/ppt/slides/slide28.xml" Id="Rd92d10b0dbdf4b86" /><Relationship Type="http://schemas.openxmlformats.org/officeDocument/2006/relationships/slide" Target="/ppt/slides/slide29.xml" Id="R179dbb31dcd941f2" /><Relationship Type="http://schemas.openxmlformats.org/officeDocument/2006/relationships/slide" Target="/ppt/slides/slide30.xml" Id="R6a933061036b4863" /><Relationship Type="http://schemas.openxmlformats.org/officeDocument/2006/relationships/slide" Target="/ppt/slides/slide31.xml" Id="R59b57ba9291044fa" /><Relationship Type="http://schemas.openxmlformats.org/officeDocument/2006/relationships/slide" Target="/ppt/slides/slide32.xml" Id="R9a3c4dcc93ff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96ed73d12847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3a4de22b6c49f2" /><Relationship Type="http://schemas.openxmlformats.org/officeDocument/2006/relationships/notesMaster" Target="/ppt/notesMasters/notesMaster1.xml" Id="R5abc9d44c40f4f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37d6dfab42478b" /><Relationship Type="http://schemas.openxmlformats.org/officeDocument/2006/relationships/notesMaster" Target="/ppt/notesMasters/notesMaster1.xml" Id="R6ccc128e909647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719570aec4587" /><Relationship Type="http://schemas.openxmlformats.org/officeDocument/2006/relationships/notesMaster" Target="/ppt/notesMasters/notesMaster1.xml" Id="R5f7fca3fda7d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2cfe8dd26b47fc" /><Relationship Type="http://schemas.openxmlformats.org/officeDocument/2006/relationships/notesMaster" Target="/ppt/notesMasters/notesMaster1.xml" Id="R5dbdc3c916bc4a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ac9999224f4a27" /><Relationship Type="http://schemas.openxmlformats.org/officeDocument/2006/relationships/notesMaster" Target="/ppt/notesMasters/notesMaster1.xml" Id="Re518a11e842549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0cfb7d1e664240" /><Relationship Type="http://schemas.openxmlformats.org/officeDocument/2006/relationships/notesMaster" Target="/ppt/notesMasters/notesMaster1.xml" Id="R40a2c601ea6f4b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3a19ff83b643df" /><Relationship Type="http://schemas.openxmlformats.org/officeDocument/2006/relationships/notesMaster" Target="/ppt/notesMasters/notesMaster1.xml" Id="Re192245f82b945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9c00a2d9c748d0" /><Relationship Type="http://schemas.openxmlformats.org/officeDocument/2006/relationships/notesMaster" Target="/ppt/notesMasters/notesMaster1.xml" Id="R3fad463b57034f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ac489ec2f14ef3" /><Relationship Type="http://schemas.openxmlformats.org/officeDocument/2006/relationships/notesMaster" Target="/ppt/notesMasters/notesMaster1.xml" Id="Rb6dd6bd7ebcf45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c5cc91ef274e18" /><Relationship Type="http://schemas.openxmlformats.org/officeDocument/2006/relationships/notesMaster" Target="/ppt/notesMasters/notesMaster1.xml" Id="R7fd7857a2aa946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56a015cf1a43f9" /><Relationship Type="http://schemas.openxmlformats.org/officeDocument/2006/relationships/notesMaster" Target="/ppt/notesMasters/notesMaster1.xml" Id="R7111bfc000a541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c74e13d8cc4743" /><Relationship Type="http://schemas.openxmlformats.org/officeDocument/2006/relationships/notesMaster" Target="/ppt/notesMasters/notesMaster1.xml" Id="R0f68032de9f545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9d5cb15ffb483d" /><Relationship Type="http://schemas.openxmlformats.org/officeDocument/2006/relationships/notesMaster" Target="/ppt/notesMasters/notesMaster1.xml" Id="R2ba2c369ef494d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dece20c3a54c71" /><Relationship Type="http://schemas.openxmlformats.org/officeDocument/2006/relationships/notesMaster" Target="/ppt/notesMasters/notesMaster1.xml" Id="Rd255331b3f084c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2039384ac244f0" /><Relationship Type="http://schemas.openxmlformats.org/officeDocument/2006/relationships/notesMaster" Target="/ppt/notesMasters/notesMaster1.xml" Id="R3122a0469f874a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5f8b126bf94134" /><Relationship Type="http://schemas.openxmlformats.org/officeDocument/2006/relationships/notesMaster" Target="/ppt/notesMasters/notesMaster1.xml" Id="R0b6f79dcdea541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dfd29807764737" /><Relationship Type="http://schemas.openxmlformats.org/officeDocument/2006/relationships/notesMaster" Target="/ppt/notesMasters/notesMaster1.xml" Id="Rff9329fdfb094e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7b6f79c7cc40a9" /><Relationship Type="http://schemas.openxmlformats.org/officeDocument/2006/relationships/notesMaster" Target="/ppt/notesMasters/notesMaster1.xml" Id="R8cf3d2914d3b4b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174b6b9dcf46e5" /><Relationship Type="http://schemas.openxmlformats.org/officeDocument/2006/relationships/notesMaster" Target="/ppt/notesMasters/notesMaster1.xml" Id="R495bd2a746b149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d982aa359c4597" /><Relationship Type="http://schemas.openxmlformats.org/officeDocument/2006/relationships/notesMaster" Target="/ppt/notesMasters/notesMaster1.xml" Id="R259d314e868a47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424abfa46349db" /><Relationship Type="http://schemas.openxmlformats.org/officeDocument/2006/relationships/notesMaster" Target="/ppt/notesMasters/notesMaster1.xml" Id="R2446ff440eac482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fb4aecebf34171" /><Relationship Type="http://schemas.openxmlformats.org/officeDocument/2006/relationships/notesMaster" Target="/ppt/notesMasters/notesMaster1.xml" Id="Rebe7ea3dfcb845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dba3c1d65f404c" /><Relationship Type="http://schemas.openxmlformats.org/officeDocument/2006/relationships/notesMaster" Target="/ppt/notesMasters/notesMaster1.xml" Id="R5db98fc5371d4c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b8502c73144fb2" /><Relationship Type="http://schemas.openxmlformats.org/officeDocument/2006/relationships/notesMaster" Target="/ppt/notesMasters/notesMaster1.xml" Id="Ra0e6fec067a747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0595e1be5c4fff" /><Relationship Type="http://schemas.openxmlformats.org/officeDocument/2006/relationships/notesMaster" Target="/ppt/notesMasters/notesMaster1.xml" Id="R22bac1e3611544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64acb8eb3c4b84" /><Relationship Type="http://schemas.openxmlformats.org/officeDocument/2006/relationships/notesMaster" Target="/ppt/notesMasters/notesMaster1.xml" Id="R2785571bd4cd43f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bb1a79eaf3442cd" /><Relationship Type="http://schemas.openxmlformats.org/officeDocument/2006/relationships/notesMaster" Target="/ppt/notesMasters/notesMaster1.xml" Id="Rf59a60f882ad4f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ceedd0064ef4c89" /><Relationship Type="http://schemas.openxmlformats.org/officeDocument/2006/relationships/notesMaster" Target="/ppt/notesMasters/notesMaster1.xml" Id="Racaa16103e38402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304fa9686649c8" /><Relationship Type="http://schemas.openxmlformats.org/officeDocument/2006/relationships/notesMaster" Target="/ppt/notesMasters/notesMaster1.xml" Id="Rb53d8b05f9fc4b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80e5b2711654962" /><Relationship Type="http://schemas.openxmlformats.org/officeDocument/2006/relationships/notesMaster" Target="/ppt/notesMasters/notesMaster1.xml" Id="R7247a704821f452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f5f14e8a4694de8" /><Relationship Type="http://schemas.openxmlformats.org/officeDocument/2006/relationships/notesMaster" Target="/ppt/notesMasters/notesMaster1.xml" Id="R9cfdb431def749b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085175cc29145e9" /><Relationship Type="http://schemas.openxmlformats.org/officeDocument/2006/relationships/notesMaster" Target="/ppt/notesMasters/notesMaster1.xml" Id="R6b03d2ff7c6e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e1e5e4a9540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6524777b18482c" /><Relationship Type="http://schemas.openxmlformats.org/officeDocument/2006/relationships/slideLayout" Target="/ppt/slideLayouts/slideLayout1.xml" Id="R9615430d16f9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5430d16f9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c4c6aa32e4054" /><Relationship Type="http://schemas.openxmlformats.org/officeDocument/2006/relationships/notesSlide" Target="/ppt/notesSlides/notesSlide1.xml" Id="R96b1d6b4841c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694dcad514ad7" /><Relationship Type="http://schemas.openxmlformats.org/officeDocument/2006/relationships/notesSlide" Target="/ppt/notesSlides/notesSlide2.xml" Id="R44fa4d8fe3f5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8c622edeb44d9" /><Relationship Type="http://schemas.openxmlformats.org/officeDocument/2006/relationships/notesSlide" Target="/ppt/notesSlides/notesSlide3.xml" Id="R3d1873c4317649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6e1fdaf10484b" /><Relationship Type="http://schemas.openxmlformats.org/officeDocument/2006/relationships/image" Target="/ppt/media/image.png" Id="Ra0256e4167fa4a13" /><Relationship Type="http://schemas.openxmlformats.org/officeDocument/2006/relationships/notesSlide" Target="/ppt/notesSlides/notesSlide4.xml" Id="R568779a0ab2945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a2a3d88ab4ed1" /><Relationship Type="http://schemas.openxmlformats.org/officeDocument/2006/relationships/notesSlide" Target="/ppt/notesSlides/notesSlide5.xml" Id="Rcb8d73e15e8244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9864c602648c7" /><Relationship Type="http://schemas.openxmlformats.org/officeDocument/2006/relationships/notesSlide" Target="/ppt/notesSlides/notesSlide6.xml" Id="R409fe90f561745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d2ffda4294cfa" /><Relationship Type="http://schemas.openxmlformats.org/officeDocument/2006/relationships/notesSlide" Target="/ppt/notesSlides/notesSlide7.xml" Id="Rbab0cfa963df4d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168efeda14a9f" /><Relationship Type="http://schemas.openxmlformats.org/officeDocument/2006/relationships/notesSlide" Target="/ppt/notesSlides/notesSlide8.xml" Id="Rcd38d6ca64474b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3800150e242a5" /><Relationship Type="http://schemas.openxmlformats.org/officeDocument/2006/relationships/notesSlide" Target="/ppt/notesSlides/notesSlide9.xml" Id="R5556b708336d48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94baa74434390" /><Relationship Type="http://schemas.openxmlformats.org/officeDocument/2006/relationships/notesSlide" Target="/ppt/notesSlides/notesSlide10.xml" Id="R3dc1b47ed913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e245ef8074ae5" /><Relationship Type="http://schemas.openxmlformats.org/officeDocument/2006/relationships/notesSlide" Target="/ppt/notesSlides/notesSlide11.xml" Id="R32cd6dc7f71845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5615be29b4674" /><Relationship Type="http://schemas.openxmlformats.org/officeDocument/2006/relationships/notesSlide" Target="/ppt/notesSlides/notesSlide12.xml" Id="R4ce4f9e263a043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04521caaa4461" /><Relationship Type="http://schemas.openxmlformats.org/officeDocument/2006/relationships/notesSlide" Target="/ppt/notesSlides/notesSlide13.xml" Id="R41400eca2f4f4e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ed09ab8ad4639" /><Relationship Type="http://schemas.openxmlformats.org/officeDocument/2006/relationships/image" Target="/ppt/media/image2.png" Id="R566beae54e6b4d23" /><Relationship Type="http://schemas.openxmlformats.org/officeDocument/2006/relationships/notesSlide" Target="/ppt/notesSlides/notesSlide14.xml" Id="Ra2c2ee0da0bf45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2ef4d3aab4eec" /><Relationship Type="http://schemas.openxmlformats.org/officeDocument/2006/relationships/notesSlide" Target="/ppt/notesSlides/notesSlide15.xml" Id="Ra9588bce889040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49550ea394cff" /><Relationship Type="http://schemas.openxmlformats.org/officeDocument/2006/relationships/image" Target="/ppt/media/image3.png" Id="Rde9bb2052bdc4293" /><Relationship Type="http://schemas.openxmlformats.org/officeDocument/2006/relationships/notesSlide" Target="/ppt/notesSlides/notesSlide16.xml" Id="Rd1b4fda7b21749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938218cc44353" /><Relationship Type="http://schemas.openxmlformats.org/officeDocument/2006/relationships/image" Target="/ppt/media/image4.png" Id="R4adaf535165848e4" /><Relationship Type="http://schemas.openxmlformats.org/officeDocument/2006/relationships/image" Target="/ppt/media/image5.png" Id="Rc27688ed1ab245c6" /><Relationship Type="http://schemas.openxmlformats.org/officeDocument/2006/relationships/image" Target="/ppt/media/image6.png" Id="R36c9de38f4094885" /><Relationship Type="http://schemas.openxmlformats.org/officeDocument/2006/relationships/image" Target="/ppt/media/image7.png" Id="R536fa0a20715404f" /><Relationship Type="http://schemas.openxmlformats.org/officeDocument/2006/relationships/notesSlide" Target="/ppt/notesSlides/notesSlide17.xml" Id="Rde26897cd84946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8a2c1c02940a9" /><Relationship Type="http://schemas.openxmlformats.org/officeDocument/2006/relationships/image" Target="/ppt/media/image8.png" Id="Rce5007ac89cb4d37" /><Relationship Type="http://schemas.openxmlformats.org/officeDocument/2006/relationships/image" Target="/ppt/media/image9.png" Id="R92d4328d0bc446c9" /><Relationship Type="http://schemas.openxmlformats.org/officeDocument/2006/relationships/image" Target="/ppt/media/image10.png" Id="R5121f39eb07740b3" /><Relationship Type="http://schemas.openxmlformats.org/officeDocument/2006/relationships/image" Target="/ppt/media/image11.png" Id="R2f730c2fbadb481c" /><Relationship Type="http://schemas.openxmlformats.org/officeDocument/2006/relationships/notesSlide" Target="/ppt/notesSlides/notesSlide18.xml" Id="R701d2402401c41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7f3a9874a41dd" /><Relationship Type="http://schemas.openxmlformats.org/officeDocument/2006/relationships/notesSlide" Target="/ppt/notesSlides/notesSlide19.xml" Id="Rcd22685f60f344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d328622674e18" /><Relationship Type="http://schemas.openxmlformats.org/officeDocument/2006/relationships/image" Target="/ppt/media/image12.png" Id="Rb5acf2c8012e4f9f" /><Relationship Type="http://schemas.openxmlformats.org/officeDocument/2006/relationships/notesSlide" Target="/ppt/notesSlides/notesSlide20.xml" Id="R3bed49e36c974c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6e0a179ff42f6" /><Relationship Type="http://schemas.openxmlformats.org/officeDocument/2006/relationships/image" Target="/ppt/media/image13.png" Id="R68f1df33f8b84559" /><Relationship Type="http://schemas.openxmlformats.org/officeDocument/2006/relationships/image" Target="/ppt/media/image14.png" Id="R85f326758b9843a2" /><Relationship Type="http://schemas.openxmlformats.org/officeDocument/2006/relationships/notesSlide" Target="/ppt/notesSlides/notesSlide21.xml" Id="R3cc8b43da8ed46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a00de3caa47f0" /><Relationship Type="http://schemas.openxmlformats.org/officeDocument/2006/relationships/image" Target="/ppt/media/image15.png" Id="R97f934e6ce20405e" /><Relationship Type="http://schemas.openxmlformats.org/officeDocument/2006/relationships/image" Target="/ppt/media/image16.png" Id="R3fc7f8f611904b3f" /><Relationship Type="http://schemas.openxmlformats.org/officeDocument/2006/relationships/notesSlide" Target="/ppt/notesSlides/notesSlide22.xml" Id="R8d44850a9e614f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c5959aef74549" /><Relationship Type="http://schemas.openxmlformats.org/officeDocument/2006/relationships/image" Target="/ppt/media/image17.png" Id="Refacaf683ffb4c71" /><Relationship Type="http://schemas.openxmlformats.org/officeDocument/2006/relationships/image" Target="/ppt/media/image18.png" Id="R0436c7108d294650" /><Relationship Type="http://schemas.openxmlformats.org/officeDocument/2006/relationships/notesSlide" Target="/ppt/notesSlides/notesSlide23.xml" Id="Ra2e38acde3b646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473317b1f4f43" /><Relationship Type="http://schemas.openxmlformats.org/officeDocument/2006/relationships/image" Target="/ppt/media/image19.png" Id="R4aae0fd56767417e" /><Relationship Type="http://schemas.openxmlformats.org/officeDocument/2006/relationships/notesSlide" Target="/ppt/notesSlides/notesSlide24.xml" Id="R968b1c40150c4e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731dfb5394f8d" /><Relationship Type="http://schemas.openxmlformats.org/officeDocument/2006/relationships/image" Target="/ppt/media/image20.png" Id="Rd3cdf8569477441c" /><Relationship Type="http://schemas.openxmlformats.org/officeDocument/2006/relationships/notesSlide" Target="/ppt/notesSlides/notesSlide25.xml" Id="R9f7e6987889042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1d916c02948ad" /><Relationship Type="http://schemas.openxmlformats.org/officeDocument/2006/relationships/image" Target="/ppt/media/image21.png" Id="Rffacc43241ac4dc3" /><Relationship Type="http://schemas.openxmlformats.org/officeDocument/2006/relationships/notesSlide" Target="/ppt/notesSlides/notesSlide26.xml" Id="R36b9d5f40d934a4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04e65bfe34a6c" /><Relationship Type="http://schemas.openxmlformats.org/officeDocument/2006/relationships/image" Target="/ppt/media/image22.png" Id="R7be0a360438c4f18" /><Relationship Type="http://schemas.openxmlformats.org/officeDocument/2006/relationships/notesSlide" Target="/ppt/notesSlides/notesSlide27.xml" Id="Reae4be5184d1463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485a0b633419f" /><Relationship Type="http://schemas.openxmlformats.org/officeDocument/2006/relationships/image" Target="/ppt/media/image23.png" Id="R344cb3ff31d14f62" /><Relationship Type="http://schemas.openxmlformats.org/officeDocument/2006/relationships/image" Target="/ppt/media/image24.png" Id="Raa725a988418404f" /><Relationship Type="http://schemas.openxmlformats.org/officeDocument/2006/relationships/image" Target="/ppt/media/image25.png" Id="Rd671ad999faa4f81" /><Relationship Type="http://schemas.openxmlformats.org/officeDocument/2006/relationships/notesSlide" Target="/ppt/notesSlides/notesSlide28.xml" Id="R8f34c0675d4d456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5bc961e0d4a04" /><Relationship Type="http://schemas.openxmlformats.org/officeDocument/2006/relationships/image" Target="/ppt/media/image26.png" Id="Rd3483459d42449f8" /><Relationship Type="http://schemas.openxmlformats.org/officeDocument/2006/relationships/image" Target="/ppt/media/image27.png" Id="Re2c0a68476394f33" /><Relationship Type="http://schemas.openxmlformats.org/officeDocument/2006/relationships/notesSlide" Target="/ppt/notesSlides/notesSlide29.xml" Id="R23741a51313b491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291d988c4635" /><Relationship Type="http://schemas.openxmlformats.org/officeDocument/2006/relationships/notesSlide" Target="/ppt/notesSlides/notesSlide30.xml" Id="R4aaea0eb3281423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d8d95b7d24025" /><Relationship Type="http://schemas.openxmlformats.org/officeDocument/2006/relationships/notesSlide" Target="/ppt/notesSlides/notesSlide31.xml" Id="R452dbd49846e45c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58c0fe53d4887" /><Relationship Type="http://schemas.openxmlformats.org/officeDocument/2006/relationships/notesSlide" Target="/ppt/notesSlides/notesSlide32.xml" Id="R021199480d4849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384210-E282-47E8-99DD-4A42117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1469C-9C83-421C-B21D-34090BB9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048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ASIoP ZDC - FOUR-VECTOR RECONSTRUCTION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53147-F538-4EF4-825F-423F8FA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All-neutron ZDC model deep dive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BAE8A-E408-4348-AFAF-6375C532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838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Scalar-feature XGBoost model that reconstructs an on-shell neutron (E, px, py, pz) from ECAL/HCAL simulated hit deposits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A81B6-86BB-4C18-A3D7-958DA0A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91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Accepted Vertex result: M1_xgb_focus_only - focus range 50-250 GeV - 2026-07-11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D30DC-CDFA-4CE9-8AA3-9C22CA5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91200"/>
            <a:ext cx="417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github.com/JulianAttemptsCoding/ASIoP-ZDC-2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F71B1-05E1-48AF-956C-C9DE5BA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46CEA-F35C-4804-B051-9E7B8C24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120616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F149A4-5F05-4F4A-9272-BE443E35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FB398-E152-4FD1-986A-A97F5330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Reconstruct a neutron four-vector from calorimeter hits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8F429-A208-432C-95AB-E1E49FA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9EB44-DDFC-412D-87C6-2350C3D5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The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3A3DC-6506-4F56-B0A1-5E3A957C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3133E-D3AD-4406-A753-D27893A6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What goes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1BCDC-D39F-4A51-B9AA-AA4036AB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9B71B-365B-47C9-9A66-44C2682E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05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Jagged ECAL and HCAL hit lists: x, y, z position plus hit energy deposit.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C5A77-8373-4550-B2C2-2C315783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E92F1-C8E2-4EEF-9BD5-BB5D869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57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Branch contract: ecal_posX/Y/Z, ecal_energy, hcal_posX/Y/Z, hcal_energy.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B9B26-4C96-48F9-8886-CC1DD3D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66A03-20AE-416B-AAFE-8F28089B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09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Positions are converted to cm with scale 0.1; hit signals use scale 1.0 GeV.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F39C3-2C1B-4D36-98A3-47E3844C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What comes 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A7A99-3DEE-43B6-B2D8-D32516F2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16808-4402-44A5-8B9D-1BA129EF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05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total energy E_hat in GeV and three momentum components px_hat, py_hat, pz_hat.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DBA05-8CF7-4705-BD67-8B370962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03788-99EA-46C9-A462-3F62C52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output is forced back onto the neutron mass shell, so E_hat^2 - |p_hat|^2 = m_n^2.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F1CF7-E429-4B07-B2A7-22553810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8329A-7E3B-4165-9FEF-415A336C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Headline scoring uses the locked test subset from 50 to 250 GeV.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4C7FF-4028-4E4D-901A-B8A145D4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99EF8-4C42-4D40-83C3-EA55EFC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1D924-78B9-4B81-B064-204716A1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672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FC0FA-F677-4B07-B898-C87DDD4C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48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 heads: log kinetic + ux + uy + uz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088F2-65CD-492D-A3E4-1B1041E3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76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C2427-F046-4DB7-B2C0-13470700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76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1D8D4-87EC-435F-97BD-53D2D52F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672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195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C51B44-3E49-4C9F-94B7-78B09623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48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input scalar features from hits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DE2B8-F9EC-45C6-9F01-D8E6057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65851-136F-465D-8640-BAAABC6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8DAF1A-FE65-4EC5-9201-AC2457A7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672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50,685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1DABF-8264-472C-8960-0330F36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48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locked focus-test events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15EA20-F2B6-4CC6-952F-8DDAFBC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76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DD919E-B26A-4271-8483-CB831733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76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BCF748-EC19-42D8-9D07-16A6F12C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672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0.2044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1898AC-9183-4899-8FA1-C4D06A1E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48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macro RMS rel. 4-vector error</a:t>
            </a:r>
          </a:p>
        </p:txBody>
      </p:sp>
    </p:spTree>
    <p:extLst>
      <p:ext uri="{BB962C8B-B14F-4D97-AF65-F5344CB8AC3E}">
        <p14:creationId xmlns:p14="http://schemas.microsoft.com/office/powerpoint/2010/main" val="18538859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66D857-F527-49D9-BFF3-AD83C0F7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BEFORE WE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35E7F-DF13-4167-B0DC-617ECE87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Key terms, in plain English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DB806-489E-4D41-8159-8410FFD0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030BF-5963-49FF-97FF-877A9D90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Before we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01CC5-7D64-4521-9F1C-BB434751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F1EB9-1C12-4E25-9CE0-30C4204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64CDE-E43C-453F-B7D0-CA1E4B8E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7B4DA-1E00-4EFF-9D96-15C7201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6685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F9852-627A-4703-B1E1-BBFBEE9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049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 for this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062DB-ECEA-4601-9663-E68F1F3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BC34F-1B00-4D00-A810-0DDEE07C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81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ZDC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41E66-B758-4EB3-A28B-1358372D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2CF1C-486F-48B5-8E6E-EFE5E02D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9812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Zero Degree Calorimeter: a forward detector that measures neutral particles close to the beam 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69020-BFB3-4582-B98F-DEA4FE83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0BB95-86FD-468D-B0CA-EEDA6BCF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ECAL / HCAL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CE49D-48F7-4B15-BB5A-D21C8A18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1935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B25D6-5104-4305-999F-254DF5CE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457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Electromagnetic and hadronic sections. Neutrons mostly shower in HCAL, but ECAL still contributes geometry and early deposits.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64F67-8DE6-42B1-BE84-8CEFF5D7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700CE-9969-43CC-8D7E-1B3B3A1F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337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6D37E-A769-4520-80F1-E474FD5B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9560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B3C36-780A-4920-929A-4655C0DA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933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One simulated detector cell/sampling spot with a position and energy deposit. Each event has a variable number of hits.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A018C-733F-4AA6-B660-AC1EE0C0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70C8F-A93E-4587-8B4E-09D9A491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099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EB391-6E64-4F21-97D8-21D77669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39242-BC77-42EC-AA77-C19AB8D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4099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One fixed-length number derived from the hit cloud: total HCAL signal, shower centroid, depth profile, leakage proxy, and more.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E1646-F514-45A1-BFA8-CC98AD4F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6F1F9-9377-445E-8175-0511DAB0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86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Four-vector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270D30-07AD-4EEC-B1A5-39B87768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4810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01BF61-BAAC-4BD6-91EC-CB83C746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862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physics output (E, px, py, pz). It contains both energy and direction/momentum.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91138-F0A0-4F9B-B03A-37F06B55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D62873-AE47-4C53-8542-B588B3FA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On shell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87A32E-D24B-446A-8871-725C57E2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2435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BC020B-CBFE-4C38-B4EC-0D7D3C55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362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output obeys the neutron mass relation. This keeps the prediction physically valid.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D390F9-D0DF-4FBB-996D-10EFBC68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064D69-BB72-4159-B66B-2886AE14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387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Boosting round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7AB6D5-C942-4CD9-ABF3-5D8D9975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0060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FC7998-8097-4D37-A36D-7D54707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838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One more tree added to an XGBoost head. Curves vs boosting show learning and overfitting behavior.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419C02-D9B6-442A-8A48-4A535952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9810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03838B-15CB-4EE0-BFC8-4F1C749B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76875"/>
            <a:ext cx="333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11508F-AF25-45F1-9AAE-BF36A4D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911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Practical reading rule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BB756C-22B7-492A-8F3B-051F7995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57875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When a plot says 'focus', it means generator energy in the 50-250 GeV headline range. 'All test' means the full 0-300 GeV test support.</a:t>
            </a:r>
          </a:p>
        </p:txBody>
      </p:sp>
    </p:spTree>
    <p:extLst>
      <p:ext uri="{BB962C8B-B14F-4D97-AF65-F5344CB8AC3E}">
        <p14:creationId xmlns:p14="http://schemas.microsoft.com/office/powerpoint/2010/main" val="10981199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79002-A975-4675-9B81-90B6B2C6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F1CB4-D177-42D0-AE49-05C1535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Dataset and split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BDC6A-F430-47BF-A342-B32D6EE6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14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The model uses the same ROOT object staged for Vertex and verified locally by size, CRC32C, and SHA-256.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4CDA4-6C37-4487-812A-E1533AFF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5B308-EAB0-4E0D-A538-D3175B23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E1235-FA31-4E53-8B0D-04A3248F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81CD5-DD22-4287-98CA-1375E6E9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CC32B-BB13-4766-B87C-2001CEC3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F7DDA-AAD5-4632-B322-5951F2E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764,940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4C26E-4C76-415D-8B51-6EBE5321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entries in latest tree myTree;865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D0842-3A19-4959-8448-5537EA3C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192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29076-6A1C-48FD-8BDD-0FF5521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19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F40A3-2C86-4F5F-BA9D-B8C876D1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09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25.02 GB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0D29F-0315-495E-981A-FCBE840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190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ROOT object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3A77C-42F2-49B9-92AF-5993F945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ACDF6-87AE-470C-814D-628EE25B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59AFE-F706-4B0D-9370-A38EBB5E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PDG 2112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1C588-12D6-40B7-8C9B-B68909B1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one neutron per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0D8F3-FC3C-41C2-A05B-924CB764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Split counts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B6D20-9EB8-416B-83D0-E31C1DB8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20E80-9BA0-4FEC-BEF2-4DD75ADF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242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B323E-EA77-42E1-B7F9-F2A10137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861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4F59A-DBFD-472A-A205-E2675466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242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0-300 GeV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1C76E-1BE2-4D76-A72B-1FC9B76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ABDA2-2C71-4894-A5FF-E8C3BB7E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242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Focus 50-250 GeV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DAD51-7503-451F-8A04-B864439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F02403-9ACA-4228-A43B-91A5C92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43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F8B104-3C89-4859-82C2-482C587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052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51D9F3-FCE3-4FBC-9CB1-71678A61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7433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612,825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99EBD-6E5C-46BE-BC88-E5B32583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0522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563ACA-CAE4-4347-9AFA-B1D48363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433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408,276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63AE0-CABB-42DF-A5A3-AEE261FE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BF9A84-C01A-4BB9-82F2-4FB55D75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896E2A-F2C2-4F04-AC8D-E16A373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243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A103F0-D8C8-4BC8-80A2-56E9967D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1624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76,010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7BDA2C-990F-4B66-8BB3-6601F103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2432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B304D3-D409-4DA9-AC81-57EE5EC3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624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50,626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E1A95-9DC8-46A5-8915-5B5B0732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4342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7009B6-4EBD-4A17-9FE4-EC7E3F8C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815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43F821-36C5-46C5-B99C-79CB137C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434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083E21-649D-4B75-A3F4-16D52D15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815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76,105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DF020B-E47A-4F11-85A2-859E5D55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4342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EFB112-A603-4403-8AC3-321ED95E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815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50,685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D526CB-209C-4B1A-868F-B288C4D8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4476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0CFDD7-9FBE-4D56-A840-031274C2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Data URI used by Vertex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8ABBAA-F97E-45FE-BBDB-07FF181A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gs://asiop-zdc-1-zdc-reco-us-central1/data/myTree_20251117_765k_0to300GeV_neutron_All.root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56e4167fa4a13"/>
          <a:stretch xmlns:a="http://schemas.openxmlformats.org/drawingml/2006/main"/>
        </p:blipFill>
        <p:spPr>
          <a:xfrm xmlns:a="http://schemas.openxmlformats.org/drawingml/2006/main">
            <a:off x="6524625" y="1700619"/>
            <a:ext cx="4953000" cy="30281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862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742294-BA95-4E45-95BD-94861D1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DETECTOR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EC78E-28D1-44EB-B261-909BB1DF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ECAL and HCAL are resolved by branch names and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87557-901E-496C-AC74-842CCE1E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61BA2-75BF-4CC9-AB07-1883AED5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Detector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85AFE-51C1-45FC-A813-54AC947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EC8BE-EC2E-4F9D-8823-0E56508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47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B563A-4939-4893-B2CB-E8765E48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Logical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67683-1CD9-4979-8929-2754FFFC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478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3F4BF-5D1E-40CB-8333-93625CC9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85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ROOT branch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2BF2A-5E8A-45EE-A993-046B084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478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9A2FB-361E-4001-9432-40F6765E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85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 /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5DC85-DDF7-49A8-82C1-7EB2F95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17EA7-0EEE-4462-A7A6-E0C0F1F3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ECAL hit position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23A08-5789-474A-8479-F46EBE4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8D92D-4315-4105-A733-B4A93E7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43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ecal_posX, ecal_posY, ecal_posZ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C3287-596E-4BDC-A030-FB0F433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4720E-225E-40A9-9FEA-C694111B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global position; multiplied by 0.1 to 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F4D9C-E32E-46B8-9997-9F7152A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9E6DA-32BB-48D3-B166-0A800AE4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ECAL hit 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00EC1-960A-4376-8D1B-FD0EF6CE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EB722-9897-4576-8D01-87B29A0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003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ecal_energy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D2CA7-F3A1-445C-B0A2-2010BF9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F27BB-2DE4-4437-A525-C2EE37A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00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ideal simulated deposit, GeV scale 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59944-EA11-46B2-9E3A-D8D461F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F934D-EB77-491F-8050-34471236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 hit position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E68C5-F0BB-4A7A-8057-E0BC908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F9F1E-407B-475E-AB8E-8C65D65D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575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hcal_posX, hcal_posY, hcal_posZ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CA67F-D422-434F-ADDE-BF7985EE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606CF-CA23-444E-A004-9EF7E5D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57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global position; multiplied by 0.1 to cm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2DD71-8EAD-489F-916A-69E83C74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76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1B304A-03AA-4107-A60F-2306F76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 hit signal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41832-B6ED-46AF-BB21-8AC6FC51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766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4C9381-32AE-4BDE-9162-A04502C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147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hcal_energy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4151AB-7D01-4DEF-9CC4-03C8CCFD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BD6CDD-4404-4E61-9B10-27E8EAAC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ideal simulated deposit, GeV scale 1.0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2468F-71DB-4FCE-AD13-938AF576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ACAC7C-DC09-4130-9B03-EDE0100A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Truth particle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7CBADA-1B1D-4F01-AB5C-E385F0BE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8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19CC37-1C87-4FAF-A63E-31A636D2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71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mcPar_PDG, mcPar_energy, mcPar_momX/Y/Z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7E989B-3431-4998-AE08-C93F3D8D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C64790-CB26-436F-856F-3DBC1CED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71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used only for targets and metrics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5463F7-B100-42EC-A909-8203270C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72EF59-5AA2-4607-835D-9F2BCAE4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29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Cell IDs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B48197-C2DF-4F08-8953-16B530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5BCF6D-5550-4BDB-9CE4-38ABCB53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29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ecal_cellID, hcal_cellID, hcal_LayerID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142EB7-E9F9-483E-83A5-2858243A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3C9250-B919-4016-84D7-6A0144B0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29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used for fingerprint and detector provenance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BA25B-0FF7-4B28-A097-1BEB3983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47800"/>
            <a:ext cx="102870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F26607-1E98-42DF-9C4B-5B8D0F0F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05375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4AB091-FE03-4542-83B5-E463E87C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196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ECAL vs HCAL common sense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A36918-F834-4AF4-B41F-D7A8871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863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ecal_* branches are the electromagnetic calorimeter hit cloud; the hcal_* branches are the downstream hadronic calorimeter hit cloud. The locked detector frame points from ECAL center to HCAL center.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6E8CBC-5F0C-4209-8D87-D04A4E5B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40A944-FA3D-4DC8-8061-28C19CD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96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truth leakage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0FEF50-0BC0-46A0-8EBA-29264511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Features come from hit positions and calibrated hit signals. Truth branches are excluded from inference features and appear only in target building and scoring.</a:t>
            </a:r>
          </a:p>
        </p:txBody>
      </p:sp>
    </p:spTree>
    <p:extLst>
      <p:ext uri="{BB962C8B-B14F-4D97-AF65-F5344CB8AC3E}">
        <p14:creationId xmlns:p14="http://schemas.microsoft.com/office/powerpoint/2010/main" val="12130204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035F0-46F6-44F9-9A12-D4332E3D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PREFLIGHT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58D62-AE19-4D04-8583-33C0F02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run locks units, truth convention, and detector frame before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9A80A-E0EB-4D20-9FB0-7D4D53C2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D1016-BE2D-488C-8F75-6201F77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Preflight QA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5BBAB-2288-473B-9281-E7BCCC5C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76973-98CE-4223-8938-23EB5E1E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1761B-DD63-4D12-ACDA-A03ED29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50485-A690-44E9-A969-1BD29EBB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2.48e-12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554F3-471C-4E10-B3AD-0B147D99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median truth mass-shell residual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ED025-515F-4F41-8BEB-A576E105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002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39DAA-6F50-416A-992E-D113E5E7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002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E5E67-C8AB-4507-8735-7AA9D3EB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BFB11-B12A-4081-82FD-3ADB80F7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71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ECAL and HCAL signal scale to GeV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273E9-9DB8-4459-9F93-AD6F68DC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002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1005C-C16F-4E5B-A5B6-6DD83C21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002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F16C7-1D01-4A60-8A6D-AB92FE4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907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0.1 cm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AA149-C8F0-4A90-9C16-12DCC3F7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71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position scale applied to hit coordinates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9F624-E7BB-4931-9633-9D74B344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08DFF-FF78-4061-81F7-2F385974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DE963-F457-4A97-9F2D-96BD1B53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FAF71-E1ED-4FCD-A9B3-6CB12239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negative hit signals allowed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58D5B-4CA3-42E0-8A32-0FACAF3B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Checks that matter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719E3-65A9-4E3C-A1B7-BBCCB7A0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2B9F8-9302-4A83-989F-1E77D656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Every event has exactly one selected neutron; all selected particles are PDG 2112.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C0A9D-3C57-4436-9E6A-7580DA0C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AC96D-59E1-42FD-998F-C03A99F3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mcPar_energy is total energy in GeV, confirmed by E^2 - |p|^2 = m_n^2.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8F69C-254C-44ED-8B48-033F70A0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A7E7D-3C3B-481B-A8C3-8A1CB831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energySum_* evidence and prior accepted pipeline lock ecal_energy and hcal_energy as GeV hit deposits.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5A3FC2-9766-4D7E-A36D-8FBF8DE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F07E5D-D551-4780-A760-6AB89D3E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local ROOT object and staged GCS object match by size/CRC32C/SHA-256; no duplicate upload was needed.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54607-A0D7-40CC-B5CD-C94F3E88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0442C2-FAE3-4DDE-9145-0DAA0D4C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57550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Locked local detector frame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63F97F-C916-47C4-B652-1355AC10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00450"/>
            <a:ext cx="3695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origin = median ECAL center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z_axis = unit(HCAL center - ECAL center)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x/y axes = right-handed orthonormal basis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local_points = (global_points - origin) @ rotation.T</a:t>
            </a:r>
          </a:p>
        </p:txBody>
      </p:sp>
    </p:spTree>
    <p:extLst>
      <p:ext uri="{BB962C8B-B14F-4D97-AF65-F5344CB8AC3E}">
        <p14:creationId xmlns:p14="http://schemas.microsoft.com/office/powerpoint/2010/main" val="1492013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8EB7B1-26E1-43ED-A0B5-4EF4002D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F6DB9-08A5-4707-9B37-0A41E437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End-to-end path from ROOT file to final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0C9E9-A193-499B-8C9C-86901ACA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3676A-ABE6-4B51-A8D5-83875D61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FF247-79B4-4117-B8C6-15F63608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9018B-4AB8-47CB-8D4E-F80F28CD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764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CE2BA-F91C-4BE1-BDC5-13C54C24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02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Inspect ROOT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BBEDD-4E6D-484A-921E-2A92D346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85975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branch map, truth convention, detector frame, data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A7951-4850-450A-9DF5-4EE002B1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14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1A84B-FC17-4D4F-8847-FEFE12E5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764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38D12-EE77-4E2A-8227-09B7E04A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8002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Build targets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A2DFA-22D8-4FD8-BDE3-024541D9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85975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single-neutron truth, kinetic energy, unit direction, event fingerprints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39816-4726-424C-BD1D-75B53A8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B1898-CE22-45E4-B0CF-E27DA672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6764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32AD2-B1CD-4800-A685-5E1EA551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002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Make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50F47-54D7-47EF-890B-A9BDD6D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085975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group-safe 80/10/10 split stratified by energy and angle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BD315-D2C9-4F46-9AC2-C59487A7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14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98371-6548-4BE3-B80F-AFB5800F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6764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C7160-B705-4569-9CEA-9968C1F0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8002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Build features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E1009-9BB4-4B1A-838E-BB7C821F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85975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jagged ECAL/HCAL hits become 195 scalar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34D28-43A2-4B10-A253-54284045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89498-E904-4CCC-9D1A-9505C689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764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ABA70-9EE4-48C6-8C04-FBCE050E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002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41926-CFB9-4EFB-8E90-D95FE029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85975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baselines plus XGBoost focus/full-support candidates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432F9-41E1-43F6-BD16-A9F330B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9ED2C-1664-4E21-9763-D51AD71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764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530F0-B809-4F69-A394-470CD891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02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Select/calibrate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8FFC9-3305-40CC-BBAA-EFAFDCD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85975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validation-focus macro score, energy affine calibration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AAB0C-D505-41F8-8849-EB486D80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14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23BC6A-D8CB-4EE5-A68C-63F42A3E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6764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B35B7-BA9E-4B8E-989A-3399752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8002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Unlock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0343F-A463-4B84-98FA-7F695356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085975"/>
            <a:ext cx="131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one final focus-test read, plots, 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CDEB17-1ABD-462A-A094-6B7782A2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What is heavy compute?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368777-0417-440F-B25B-F5CE6DB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B7534D-2C47-4B13-9C1D-8AE6F3BB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ROOT scan, feature materialization, XGBoost training, and loss-curve jobs were run from Vertex/GCS outputs, not repeated locally.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6DAF10-C340-4B1A-8373-63894DD9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124CD1-7134-4441-9C22-A9A41F7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Local work here is presentation/report generation and QA using saved metrics, predictions, and diagnostic figures.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A0A71A-3F34-433C-910B-3FFC95F8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309918-71AC-4CDA-A41D-C2458349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Accepted Vertex prefix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E36EFF-604B-47E6-920F-4848A4E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3733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gs://asiop-zdc-1-zdc-reco-us-central1/runs/full-cpu-20260710-finalfix2/outputs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3A0F6-F7DB-46EC-8755-58AAD877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9EA295-7F9C-4C27-A304-815BC018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Loss-curve prefix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ED0556-4056-4251-B265-1196BF5B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3733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gs://asiop-zdc-1-zdc-reco-us-central1/runs/loss-curves-20260711/outputs</a:t>
            </a:r>
          </a:p>
        </p:txBody>
      </p:sp>
    </p:spTree>
    <p:extLst>
      <p:ext uri="{BB962C8B-B14F-4D97-AF65-F5344CB8AC3E}">
        <p14:creationId xmlns:p14="http://schemas.microsoft.com/office/powerpoint/2010/main" val="2338140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79861-F1A9-4524-931C-44E2C0F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FROM HITS TO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6220B-65D0-4C26-9957-596B561B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sees fixed-length scalar summaries, not raw jagged arrays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9DA18-AEAC-41FF-9EC0-7D318F5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20CCE-8E25-48F1-9E36-08E27A17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From hits to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1B8E7-2042-4A1A-AAA0-7C291A1E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ABDEC-04B9-4784-817E-EBE2BCF4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90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FDD4D-F004-45E8-A4BC-D55F124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family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92B55-EB31-401E-916A-2B06A01D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906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AB5DA-8095-4CA6-AF5B-05285B7F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28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6F595-8B63-4B18-95D5-65F1B01D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3906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7F78F-4890-42D1-A4C5-D665D0B9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helps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7DF99-F177-4492-89EB-2E32C30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859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7815F-9D8D-4E0C-A1AB-265506C1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Energy totals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99D86-73B8-4A29-AD07-96F56D17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859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62567-347D-4EC6-B16B-12294D7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ecal_total_signal_gev, hcal_total_signal_gev, visible_signal_gev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4BB16-BFE2-4BAF-BD5D-F06ECA5B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859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8E87E-494B-4705-B25C-5A4301D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First-order energy scale.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F1503-88D8-4EFB-A89F-9A268BB8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ACAC1-0991-4565-859B-C781EB0A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193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Hit intensity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74B50-CA6F-4E1B-908D-E683E8C9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812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8D0A7-7629-4818-AC9C-C3C029E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193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max_hit_gev, effective_n_hits, top-N energy fractions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FC933-196F-4CBB-8E3E-E6069FF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812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7A72D-35AF-4D41-8DAF-071E68F0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Separates diffuse and concentrated showers.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39BB7-49E3-45B4-8DBC-4B5859B1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76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332E3-B5F8-4DCA-A16C-2339B553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Centroid / RMS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CE49A-D488-4DD1-9572-54966CAC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765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4A8A0-24F7-4A5C-8D21-7260F19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14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centroid_x/y/z, rms_x/y/z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7BCFB6-9E6F-4D95-A301-B074143F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765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29B48-F118-42E7-B618-B37E4A9F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Encodes shower position and spread.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0EADA-2A58-4468-A70A-4620E12E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71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C6E76-5F9F-4875-BD5C-7241040E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Depth profile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D318A9-C073-4D00-8B9F-DF9E6321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718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F644CE-10BC-4D6B-8A94-770CE40D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 ECAL groups, 8 HCAL groups, cumulative depth quantiles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4E6F3-EC3D-42CE-9DA3-DA240057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B632B-A199-45A3-8E82-1E24CA03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Captures shower start, peak, and back leakage.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F98AA4-F906-4E48-B78B-79DFEB6C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671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D97EB1-E47E-4E38-BADB-2950B4B5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Axis/PCA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C59C2D-C6BA-4CC7-A1E0-E22B260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9B5E4D-FFC8-4B1D-9FCA-BB14BD8B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line-fit slopes, axis_u, residual RMS, PCA eigenvalue fractions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799253-6590-4C99-AA49-5B8864B9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7FAB6C-8AAA-4A05-9AFC-D750E383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Approximates incoming direction and shower elongation.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1F5987-DE8D-4C79-BD30-FE53642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624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E2C77A-D439-45B7-9EB4-4AD2D2A7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Leakage / boundary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19B946-6393-4692-A10F-59E1BB52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624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0AF06F-F65E-4F5C-9138-EFBF640D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axis_exit_x/y, exit margins, hcal_back_leakage_proxy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E007F1-8968-4549-ACFD-4321F875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624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97F86E-93F6-4363-A73B-C1B7ACD1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Flags events likely to leak out of the detector volume.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77306D-E289-4E13-B34F-8F0BCD0C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577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34BB9C-350B-42B9-9C58-DB81C47D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958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Quality flags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C29A46-522F-4098-A3C2-83792FD9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A535EE-7F8A-4028-B3A3-969DDEAB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empty, degenerate, no_detector_signal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379B1B-444C-4B25-A70F-01E7B2A0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638D16-2C80-4834-8A20-D10A0CF9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Makes zero/degenerate cases explicit instead of silent.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731D78-4117-4C26-9F68-402D0DCF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90650"/>
            <a:ext cx="105727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069EB4-E87B-4F20-AE4B-A8883CAC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2925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4541C9-62F1-4FA1-AFED-27793CED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435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 count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4D939E-87E3-4FA9-A212-38DE75B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8102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final manifest has 195 detector-only scalar features. All source branches are ECAL/HCAL hit positions/signals; truth features are disallowed.</a:t>
            </a:r>
          </a:p>
        </p:txBody>
      </p:sp>
    </p:spTree>
    <p:extLst>
      <p:ext uri="{BB962C8B-B14F-4D97-AF65-F5344CB8AC3E}">
        <p14:creationId xmlns:p14="http://schemas.microsoft.com/office/powerpoint/2010/main" val="4232518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68B0D8-559C-4270-A6C0-7C054FAA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FEATURE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1D572-7BA8-4112-A021-DA0870B2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the focus-test hit summaries look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8C3FF-EAD6-4A96-9EE2-BD153B2D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3843E-FFA8-48C7-BC4F-0E1E8EBE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Feature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6618D-F888-4AD7-AEEE-0CC7A65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5AEC2-51FA-4B42-B8AA-5AAD385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2190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A5D63-A057-44D5-ACDE-737E7763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B132F-B617-4696-A9BA-FE76B727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9542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ECFE0-EDAE-422F-8A64-26B5ADD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3352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D0704-5689-4ECC-8F68-399A2A4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9542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5D4E1-A3E7-491C-87D6-E73B14CA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3352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F0F59-1E16-46D8-AB04-25FD93CD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9542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EE4FC-84BA-4168-9FDD-6731980D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3352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2CD83-B592-4415-9120-A2858356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95425"/>
            <a:ext cx="5334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A6F5B-5F57-47C0-9ABB-96ADE08E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33525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Plain reading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1A112-45F2-4DB7-A2A4-D210176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2190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8FA09-48BC-4A31-9E2C-78E12D49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visible_signal_gev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32B82-9DEE-4409-B6C3-02626BBC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5740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FA65B-C417-455C-B398-EFB3129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0.68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E5062-DA58-435C-83CB-1AE3D31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5740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58EFA-4A4A-412E-A404-AFFD3B2F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7FFE0-F850-4EDF-89D6-05E96033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5FC23-9888-47E9-BD75-68564380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14.48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FB941-548F-4485-9BB4-967B1E42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57400"/>
            <a:ext cx="5334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5EE56-1F59-4DA8-9232-738F6A0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Calorimeter deposits are much smaller than neutron total energy; regression is essential.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749F7-E0C1-4B4B-A226-C6153A14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2190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4651A-D3D1-48E4-95AA-82550174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hcal_signal_fraction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C36A8-AADF-4331-8819-A805643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1937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3DA52-742F-4136-98DD-03705047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5747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68698E-3176-4CCF-B16B-4AC2B735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1937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50A14-0134-4DF0-BFFC-3E8E3178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5747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0.92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3F2064-7E88-4CFB-93A1-AD3180B3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24C502-B29E-4CAA-BF83-EA1F58F0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5747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EF090-23EF-4F91-954C-4B1C19C8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5334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5EA20-3668-4846-8E5B-3241EC11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57475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Most visible signal sits in HCAL, as expected for neutrons.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4E95B8-0F8E-41CD-B22E-7B286548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81350"/>
            <a:ext cx="2190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389AC7-F2E5-46DF-9020-F19E8514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all_n_hits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14CF09-B54A-4ADF-8EA2-CD399DE7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8135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3BC02C-133E-46FE-83EA-AC0E8160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6B8616-5540-48D6-85EE-1C9BBC27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8135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970A63-FF3E-494A-B99B-2E8FF3E6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1,908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8A1691-921D-432F-8B5F-57C5A246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8135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B7E4C3-2D3B-4C8C-BDFF-F3C2A5D8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3,429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E62635-FC15-4810-B365-E9351AF1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81350"/>
            <a:ext cx="5334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13F804-DBEC-43CD-B942-A4B3D631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Each event is a large variable-length hit cloud.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4C149E-53F5-4247-80BF-8BBF9AA4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43325"/>
            <a:ext cx="2190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B7BF06-77AA-4B2F-9982-7C2EDEE1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hcal_back_energy_frac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7FFFC3-F9F5-4090-AE16-124E8B5A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4332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7ABAF7-0FFC-45AA-97E5-80503A36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8142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F3E9B7-BB93-4806-99E4-CC1E94F4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4332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368DF0-B0B3-4167-BA0A-FAF0E106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0.00006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1CEFA6-B1FD-4F6B-8E33-00E8436F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4332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EFD73D-1A58-42A0-BA93-E6B150AC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0.030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86C55A-1AFE-471F-9C47-0E8B91B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43325"/>
            <a:ext cx="5334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8DD20F-B094-42B5-AD65-6DF442F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81425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Back leakage is usually small but important for tails.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A43597-14AE-48F5-BB0E-B944291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2190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383814-A9A3-43EC-9548-27B2D91C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axis_exit_min_margin_cm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48B33F-8AC5-4AFF-8C3D-8778AA0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0530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5C8FD1-F394-415B-8685-9D123F96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4340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-24.19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74063E-7CF7-4CE6-BCC6-A896379F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0530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5B9260-1976-4240-9585-78DCAB61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4340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4.02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3DE7C7-EAA8-4D48-86C9-051DDAF0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0530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F6725A-1456-493F-9237-0BF388E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4340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27.16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620CE0-09B8-4AB7-A1C0-48201342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05300"/>
            <a:ext cx="5334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B3E36F-B7BA-49B4-A46B-862094B2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Some fitted axes leave the detector footprint; margin is a risk feature.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A49ABE-548A-49CA-830F-AD52FD68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0096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C7AA06-31E3-4DA7-8647-45ABC2AD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FA445F-0716-4103-B1B9-324FC3E8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91125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model is not doing simple E_visible -&gt; E_true scaling. It combines visible energy with shower location, direction, depth development, concentration, and leakage proxies.</a:t>
            </a:r>
          </a:p>
        </p:txBody>
      </p:sp>
    </p:spTree>
    <p:extLst>
      <p:ext uri="{BB962C8B-B14F-4D97-AF65-F5344CB8AC3E}">
        <p14:creationId xmlns:p14="http://schemas.microsoft.com/office/powerpoint/2010/main" val="12136990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366061-BB1A-415F-90B5-77D2B02A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THE MATH, PART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7BF8D-6E05-4F31-A6BA-89F70520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target: log kinetic energy plus true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1739F-38AD-4111-8232-C549FBB0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E2B0F-DAB6-45E8-A994-EFEC36AE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The math, part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AA651-769E-4CF9-BA14-026B0939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397B7-8D4D-4FC4-8B2E-382F970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BCA07-23AD-4006-BF4F-538F3B0B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479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Truth quantities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57411-C7D2-4254-96A6-7533DB82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7910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m_n = 0.93956542052 GeV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E_true = sqrt(px_true^2 + py_true^2 + pz_true^2 + m_n^2)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K_true = E_true - m_n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u_true = p_true / ||p_true|| = (ux, uy, uz)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19A2F-9693-4406-AC97-08F15D20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1AD2F-24BA-47AD-8BBB-8172CDA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638300"/>
            <a:ext cx="479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Target vector used by XGBoost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AFB85-F4D7-4428-B6A8-22464C00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81200"/>
            <a:ext cx="47910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y = [ log1p(K_true), ux_true, uy_true, uz_true ]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log1p(K) = log(1 + K)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Why log kinetic energy? It keeps low energy resolution visible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while still representing the full 0-300 GeV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90D74-8D6F-4C9D-B8E6-ABA05BE0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Why not train E, px, py, pz directly?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4691C-D654-4F5F-9CD6-2AC96FA8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285D1-2D06-4ABC-BDC1-EF16FCE3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Direct four-vector regression can produce physically impossible outputs that violate the neutron mass relation.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04DB3-1742-4C27-9D08-4D881578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9E1D1-3F51-45E3-BD02-3CE1B8CD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Separating kinetic energy from direction gives the model an easier structure: one positive scale plus a unit vector.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3F05-AC6C-45EC-9C5E-953BB3EF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D6733-F99A-4DF2-8177-15A03984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final conversion guarantees an on-shell neutron four-vector after calibration.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DE11B-8462-4166-BA03-DE8701E0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10050"/>
            <a:ext cx="338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7494D-3302-43E8-B988-4AC696F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324350"/>
            <a:ext cx="3114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names in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A38E4-705A-425F-96C9-1B643054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591050"/>
            <a:ext cx="3114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log1p_kinetic, ux, uy, uz. The saved champion model contains one XGBoost booster per target head.</a:t>
            </a:r>
          </a:p>
        </p:txBody>
      </p:sp>
    </p:spTree>
    <p:extLst>
      <p:ext uri="{BB962C8B-B14F-4D97-AF65-F5344CB8AC3E}">
        <p14:creationId xmlns:p14="http://schemas.microsoft.com/office/powerpoint/2010/main" val="2511031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CFC96F-96F5-47CC-A699-BF389FA2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THE MATH, PART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A1F1A-198F-4D53-98E2-92E76547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Prediction is projected back to an on-shell neutron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008B5-4C4A-4692-88BB-6BA0626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B6CC4-E51A-46C2-B07F-0BB9C1F8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The math, part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4DFAF-7401-4973-9C1B-E8C05089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E88E-154D-4981-B383-C9C4558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0958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DAF18-7257-46C9-93CD-F830290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79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Raw model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ABCE3-E8B7-46BB-9790-52B10F01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791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y_hat_K = model_K(features)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v_hat = [model_ux(features), model_uy(features), model_uz(features)]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K_hat_raw = max(expm1(y_hat_K), 0)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u_hat = v_hat / ||v_hat||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8062B-3627-4021-8817-C2452BA2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50958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82F59-B163-49F8-85F8-F3C0DCEA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638300"/>
            <a:ext cx="479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Physics projection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CD5A3-E357-4645-A862-6CF2DF89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81200"/>
            <a:ext cx="4791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E_hat_raw = K_hat_raw + m_n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|p_hat| = sqrt(max(E_hat_raw^2 - m_n^2, 0))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p_hat = |p_hat| * u_hat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four-vector = (E_hat_raw, px_hat, py_hat, pz_hat)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374DB-5AF8-410F-BE1B-DA87FFDC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5095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8545A-88B4-4CB0-A31E-A583EA2D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79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Validation energy calibration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83709-BEFA-4A47-8D68-081F1ECC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7910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E_hat_cal = max(0.988213 * E_hat_raw + 3.103, m_n)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direction is kept from p_hat_raw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p_hat_cal = sqrt(E_hat_cal^2 - m_n^2) * u_hat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source: validation focus after model 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C45D3-AF60-4432-82C8-B05A0009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5095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788FF-33DA-4A5B-B01E-DA8791CC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10050"/>
            <a:ext cx="479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Mass-shell QA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FBC23-0C2F-45C5-A1EE-D98CE1E2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52950"/>
            <a:ext cx="47910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residual = E_hat^2 - px_hat^2 - py_hat^2 - pz_hat^2 - m_n^2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max |residual| on focus test = 3.28e-11 GeV^2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This checks numerical consistency, not predictive accuracy.</a:t>
            </a:r>
          </a:p>
        </p:txBody>
      </p:sp>
    </p:spTree>
    <p:extLst>
      <p:ext uri="{BB962C8B-B14F-4D97-AF65-F5344CB8AC3E}">
        <p14:creationId xmlns:p14="http://schemas.microsoft.com/office/powerpoint/2010/main" val="618126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BB270-EBD1-4906-B7FD-4D222F87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THE ML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98613-F224-4DE5-A428-B3A21F7D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XGBoost here means four boosted-tree regressors plus physics postprocessing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B8110-87A7-49A0-A703-D9CCBD3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CB1CF-136B-4D56-87A2-67D9178F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The ML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D4FD8-81FA-4AD8-B20C-D81F613C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D952C-6F26-4E02-8839-4BCB1E21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603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A4528-D6BA-4E63-BE2A-879BCF7E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41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195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78995-E55D-4AD0-9C21-8E9BCE4A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41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fixed vector from ECAL/HCAL hits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11EE-2A1B-42D4-BAB0-27FF7C86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650" y="2047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3E305-0A30-42FC-8238-089CDB73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1619250"/>
            <a:ext cx="1603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2C308-A304-4793-B53F-1191039B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725" y="1743075"/>
            <a:ext cx="141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Booster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A06F1-50B3-4A57-88BA-A279D906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725" y="2028825"/>
            <a:ext cx="141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predict log1p kinetic energy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C002A-4291-43F5-B14D-CB08BAC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375" y="2047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9042A-73D0-4FFE-9026-05E5B192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1619250"/>
            <a:ext cx="1603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F595A-04EB-46FE-B590-E87C1BA2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1743075"/>
            <a:ext cx="141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Boosters 2-4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8A560-CC85-491B-AC7E-0D26BAE1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2028825"/>
            <a:ext cx="141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predict ux, uy, uz direction heads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51E93-1F64-4595-84E4-C747B521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47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BA459-4946-4F57-A8DC-3B489F0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19250"/>
            <a:ext cx="1603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8FE75-7D89-437B-98ED-50ED5AE7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43075"/>
            <a:ext cx="141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FFBE9-12E3-4AE6-8576-C61E4729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28825"/>
            <a:ext cx="141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turn direction heads into unit vector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668AB-3A85-4386-A8C5-22F310F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825" y="2047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E4BEE-A27A-46B2-9C75-293E14AA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1619250"/>
            <a:ext cx="1603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CAD6B-F2AF-44C2-9A45-24E54E97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900" y="1743075"/>
            <a:ext cx="141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005EE-D0AF-41E3-8844-8E00E688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900" y="2028825"/>
            <a:ext cx="141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build on-shell neutron four-vector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03021-CF9B-412B-A636-8537FC73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47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7177C-76CA-4B2A-BD00-52543295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375" y="1619250"/>
            <a:ext cx="1603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FBF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8011E-BBBA-4AA8-A227-2379411E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625" y="1743075"/>
            <a:ext cx="141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Calibrate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A23F6-3DD3-4A0B-8D87-0B2263CC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625" y="2028825"/>
            <a:ext cx="141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validation affine correction on total energy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C36B15-3233-409C-AD3B-45F213C9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How boosting works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2BB96-71A3-4EEF-8E64-2EC2B8BD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AA12DA-DA20-47CF-8FA8-D727234A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Start with a simple prediction, then add small decision trees that correct the remaining errors.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AD290-C5E1-4892-A9DC-3EDC54A0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DC6C8C-1C72-49ED-8AAD-CBF21636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Each head trains independently but receives the same feature matrix and the same event weights.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9CDC9-15E0-4DEB-B1D2-D12C5C49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62AC78-AA17-4373-BE82-784D0544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final four-vector is not just the raw tree output; the physics layer enforces nonnegative kinetic energy, unit direction, and neutron mass.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1A1E8E-03EF-4F04-8A56-1277C12E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57625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5CFEC5-F91F-4BBF-A5EF-B5AE29D3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71925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Important caveat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5D5C93-ADC1-47C3-8F5A-16EBAA37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38625"/>
            <a:ext cx="363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This accepted result is scalar-feature XGBoost. It is not the newer dual-grid neural model requested in the original one-shot; no dual-grid neural artifact is claimed here.</a:t>
            </a:r>
          </a:p>
        </p:txBody>
      </p:sp>
    </p:spTree>
    <p:extLst>
      <p:ext uri="{BB962C8B-B14F-4D97-AF65-F5344CB8AC3E}">
        <p14:creationId xmlns:p14="http://schemas.microsoft.com/office/powerpoint/2010/main" val="20368606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9F29F-ACDF-4FA8-94D3-3B9886F4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TRAINING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3C956-223F-4446-A821-EFD0AC9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major parameter needed to rebuild the accepted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7674F-1D4C-4BF8-9E84-932A4D5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E8D6F-10EB-41E4-84A9-E597AF3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Training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7FD8A-7A62-4FA4-9810-858711C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ED11C-2A6B-4A6F-BE74-60B2C8C9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71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63CBB-5887-4095-8435-7D3DCE53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F7497-B94A-4721-880F-9A5D12F5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716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9E004-2C65-47E0-95E3-BD99B150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09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B673B-C1B1-455E-B798-53A66A8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716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AD20D-DE15-4996-8A3D-18870017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2099B-FC88-4554-86EE-FB202115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BF02B-3714-41A3-9E67-6DB610A5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8B3AF-A396-49BF-992C-8F0ED280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09D88-5B8B-4A02-95A7-EF95EE3F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52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log1p(K) + ux,uy,uz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63041-7A7A-4D9E-A230-7552FBE7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145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39CD8-6D52-47FE-904B-DEED68DD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four heads, later converted to on-shell four-vector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2B0A3-B69F-408B-804D-3F279810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8F1E5-3F9C-42A4-AC1C-466613A3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support candidates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D183D-9313-46EE-AE1B-E76BB15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574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E1FB85-F19B-4AD5-A261-67195AD2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focus_only; full_support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E264E3-848A-4A48-9398-507401C7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574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E3D45-2CA3-4DE1-85B8-6883BA69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train on 50-250 only or include shoulders with lower weight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7BEEF-8AA7-44BB-8A01-4509AED8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AC54F-9BB2-45EF-967E-3C44BA84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energy bin balance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48677-A5D0-4461-8EC9-C2E6EF4C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00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67E65-8B6C-450D-B43B-95F7D974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7A53B-1F5A-4818-9310-1CC3B009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003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97B9FC-A7A9-4C2B-9069-FA96D41C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38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equalizes training influence across required energy bins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A17D72-D3FA-4360-877A-7085A90A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432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01AA37-6BBD-414B-BDA1-EFD5A5E1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5CB12-5322-42EA-A717-E40BBF7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432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71FF41-B6F3-483E-A566-8ADB9065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reg:squarederror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179092-8736-41C2-8FD1-9771D7D1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432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7DBCC0-67E9-42D3-B837-19BF40C6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squared-error loss per head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2816D8-E03D-4CC5-A208-217155AB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86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982C15-9CE5-4B30-A95B-8BDD4070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eval_metric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E7E41E-509B-489D-AD7D-A2802D2F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861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3A4C92-830C-4BAD-ACB4-63CB5DE7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D54FF8-692F-48B5-822C-CBFAFFD2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861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3C2BD9-1CD4-4400-9B93-F74CA8F9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242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validation monitor used for early stopping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FA6E2D-B396-4492-B746-A74FA6C1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4FDFCE-45FC-42C2-B8E2-E621E5B5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tree_method / device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DB025C-8DBD-4CA4-A4E6-DA45935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290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D92599-7522-4660-B71B-474B486F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67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hist / cpu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CF4028-61A2-4E1D-A4A8-E02B04A9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290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BE7E30-933C-49F2-B728-B1402DAE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histogram tree builder on CPU Vertex job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5CA5A2-DC6A-4FCE-96C2-EA74DCEC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8724AE-F9FC-4317-8FFB-01E5527C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learning_rate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537122-FA20-4AA6-9CDD-92F9CF53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719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2F6121-D71E-4DFF-859C-5AF612A7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0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63B811-D868-4FED-9466-614E329B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719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ADF974-1612-4749-8045-F0C0F6CC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small contribution from each added tree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A33147-4790-478F-8F70-C9DA4F35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732E3C-65B3-4427-AEF0-1BC745A6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max_depth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89702C-CA35-4B2C-A47F-86D15244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148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30041D-418E-428E-9A3B-D176B108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52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410444-BE03-45F1-B343-8244A321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148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FD36C8-6F77-4369-8678-D30FE4B5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maximum tree depth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65FA26-BE2B-4928-AB2A-766D48BD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6942C2-381B-4A12-99DB-4ABFBA73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min_child_weight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0387EB-418E-404F-BDFF-16C617B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CA440F-8984-497A-8B93-C3D0BED2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7C9076-3D5C-43C5-ABE5-6FFC8BA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577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0061CE-E74A-4D4D-A26C-ED488435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regularizes small leaves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B12F95-3455-4E12-B45C-06A8D77D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00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0D92EC-40C9-429B-9A34-A1D015FC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subsample / colsample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2BEE67-6161-4AC9-AEAD-C96B1285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006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1D9A21-1281-4E52-9620-A5B21BA7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0.9 / 0.9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686C2E-495C-4B50-A6A0-088DCB60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D74306-2C89-49B0-8EE2-EFC95846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387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random event and feature subsampling per tree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5558DE-0BFF-4A0B-B8B8-01AAA948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3C64A7E-767A-4D5E-ADFC-FB67392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reg_lambda / reg_alpha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A1B90E-7BB7-41AB-8B35-357F7A5F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43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640B829-B275-412D-A678-29A7FDD6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81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3.0 / 0.0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2F970F-46FE-445A-A5B8-E31C879D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1435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ADCC50-6549-4394-92BA-E0E526C7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L2 and L1 regularization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1DBB63-2CF3-42CF-B97E-257BD163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93DC88-C6DB-46F2-A857-BBD542B0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max rounds / early stop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C7B218-7C8B-4092-B93B-23422E3B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864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E07D2A4-C5E7-49F1-8187-E110B9E6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24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2500 / 80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9052248-BAF5-445E-92E4-A6E439B3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864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B8E418-BB04-4D2F-9320-6A1F9885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hard cap and stop patience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64DCBB4-E1E0-4045-A995-57794644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293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C268F3-5742-402F-AA04-11D6D6B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6235D5E-6639-4BD5-B5C6-C3745786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829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1641722-1442-444E-8DDF-BCE9A140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67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20260710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B57575B-F36E-462B-B83E-83FEAE4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8293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728BBC9-43C8-41C6-824D-F429978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67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reproducible split/config seed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FEBD2CC-5523-4B7C-86A0-D4F1A46B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71600"/>
            <a:ext cx="103822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08160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429085-73BF-4F9E-A6BF-1C34761D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SELECTION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C06CF-0EA2-42DB-B22A-181758AF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 chooses the model; test is opened once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1BE70-7FB5-4E3A-BB16-C08F34B5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A280A-2172-43A5-89A6-0579ABDC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Selection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40860-8F43-48A0-8480-61582F89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BFD85-01D2-4EBE-930F-76F746F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Candidate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612A5-F5BE-4424-A93B-9103FBAC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0EC62-9E38-4A5B-9D50-B27590C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Baselines: visible-sum axis, constrained ridge, direct ridge diagnostic.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6F756-0738-470C-86E6-3388235D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49617-313A-4129-9C5C-537CBBD1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XGBoost candidates: M1_xgb_focus_only and M1_xgb_full_support.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F1DF0-FFFC-4506-A3CE-5099D0F0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CBF52-4B9E-4D04-AFBD-21598304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Ranking metric: validation-focus macro RMS relative four-vector error.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934EE-1827-49D2-B596-4214D2F0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7821E-AF7D-489B-A469-A059D001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Champion: M1_xgb_focus_only, validation macro RMS 0.2039.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B27FC-A458-4D10-BD2F-5DD0BF6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D3FF8-C033-4260-A279-D053A3B8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76800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Calibration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3156-4040-4C07-BEB1-66F1284B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143500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Tuning ends before calibration and test access. The selected model receives an affine validation energy calibration, then the test split is unlocked once.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beae54e6b4d23"/>
          <a:stretch xmlns:a="http://schemas.openxmlformats.org/drawingml/2006/main"/>
        </p:blipFill>
        <p:spPr>
          <a:xfrm xmlns:a="http://schemas.openxmlformats.org/drawingml/2006/main">
            <a:off x="6191250" y="2364069"/>
            <a:ext cx="5143500" cy="16345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587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61DA5C-1FBA-47EC-9C81-A6FDBFDB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A86E2-2050-46A7-BDF6-B21000BE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exact metrics used in the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003E7-B2A6-4B4E-940B-D6B73DEA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247BA-2242-478B-BDF9-3CFCD029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Scoring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A42FC-0491-4F62-9F2B-95E6A034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53415-0CE1-4BAF-A2A4-147EDD5C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478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B1EAA-1AFD-48CD-89A6-7DEBC61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A4BF5-D6D6-4975-B688-BA24A207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478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973C4-6722-4F89-9C15-0AF75981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4859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AF7C2-517A-4D68-9CE7-E79B6C8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47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03729-6059-4B43-A333-377716E8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859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Plain 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F42AE-33F4-4523-B65C-B5967C11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176AB-6071-4B35-BEC3-427DD8A1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relative four-vector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45153-D965-4E0C-A869-F71823D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36624-90C7-4679-A613-CB71CCCF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383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||p_hat^mu - p_true^mu||_2 / max(E_true, eps)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D1A5F-D93C-48E9-952A-007AB504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91693-AFC6-46CB-9CF1-1609A409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383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one event-level four-vector miss, scaled by true energy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1698D-2725-4BF8-8562-0CC16152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FCE79-183B-4268-98C8-1FC48400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908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macro RMS rel. 4-vector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F8634-75E2-48E1-B614-26E784C1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E79E0-63F3-442A-BC72-C5CBA439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90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mean over 25-GeV focus bins of sqrt(mean(error^2))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9418A-AAD0-420D-9F68-231D413C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831B6-AB6C-4CF7-B066-C6CB5E77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908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headline score; prevents dense bins from dominating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A0F07-8708-41C1-8EB5-0113BED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ED22B-C5EC-4BEC-A067-02BFE81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energy relative RMSE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7E5B3-AC49-49EA-B030-0B13510E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051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D697E-BDD0-4C53-B183-70D53478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43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sqrt(mean((E_hat/E_true - 1)^2))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B670E8-590C-40F3-951B-8166E0B6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95F04-944C-4E9D-A9C1-F1530B5A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fractional energy scatter, including bias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7BF609-BC0B-425C-B79E-1E97F5E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576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4A038-D5E5-498A-8911-7B6CCEC0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energy width68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4C81F-8FA1-4343-8C7D-ADA28FA7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3ED30-CC55-4DDA-9B9D-33BAD1A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95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0.5 * (q84 - q16) of E_hat/E_true - 1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99B026-8CFB-484B-A3F9-34CD9612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A9539C-F60D-4303-80C8-55E24F36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957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central 68% half-width of energy response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D14B68-74AC-4B2A-A4DA-EB03C777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00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303AE8-32FB-4AA8-BF12-0584C5E4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481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angular error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CE4DFD-8CEB-4248-82B5-818936AA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3A53EA-ECFF-4200-B5A8-AB4EC762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48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 * arccos(u_true dot u_hat)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24F91B-2305-4077-88AC-4062E992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4464EE-D50C-433B-A9AB-00647B7D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481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direction error in milliradians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958101-0C35-480C-8CD5-4D0FDF30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EBDC24-8CD6-4F95-8612-AC471C05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006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mass-shell residual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96F7B0-2259-4DE2-A810-7E151704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96C450-646E-4BA9-8A72-BE11F655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00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E_hat^2 - px_hat^2 - py_hat^2 - pz_hat^2 - m_n^2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DBB0F8-FA57-4B95-B89E-3F975BC1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C3BCDE-F55A-43E4-9026-536CB1F1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006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physics consistency check after projection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A839C0-F4DB-4A59-A758-03FD3EBF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47800"/>
            <a:ext cx="108585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130EE2-9B3E-4373-9947-15D9F821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911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E107EE-9BD9-4788-BA82-7F9B79CA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054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 bins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C6D0D1-F7CF-484A-808D-EC01103D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721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Required bin edges: 50, 75, 100, 125, 150, 175, 200, 225, 250 GeV. Empty bins are a hard error.</a:t>
            </a:r>
          </a:p>
        </p:txBody>
      </p:sp>
    </p:spTree>
    <p:extLst>
      <p:ext uri="{BB962C8B-B14F-4D97-AF65-F5344CB8AC3E}">
        <p14:creationId xmlns:p14="http://schemas.microsoft.com/office/powerpoint/2010/main" val="39258979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CC805-3373-4AC5-B8E8-6906039E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BOOSTING CURVES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3FBD6-E02E-493A-BCD3-BB88367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Overall train and validation loss vs boosting 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03AEA-1B6D-4CF3-BEFA-7241265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1190E-3204-422B-AFB9-698B52F3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Boosting curves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56193-F833-47CF-AD01-7B385480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6FAE-F723-4976-A0D5-89D7E028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Best validation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264E3-6046-4920-83FD-0873D44B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D07E8-B27C-4685-9324-9A876510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BFC22-5EB1-4374-9F91-EBAB9ADF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round 735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7D3A0-F7A0-4734-9371-4934F06D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14625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best validation 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68B5C-8641-470B-AEBF-48D287E9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11D27-CA34-4000-8146-946C2715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9767A-FD83-4773-8B0F-296B7A16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813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0.2143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57A30-CC77-40A7-9D27-C91A6DAF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62375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validation rel. 4-vector RMSE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39BEE-94D6-4484-9834-82544076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4EADE-87C4-4FC7-BC28-86E60CAA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B30EE-2063-4405-80D8-B3351C27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291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+0.0235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8E144-A59A-4A72-9BF8-35F84E65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0125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validation minus train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EDE61-0346-422D-ABE4-CF630384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86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gap is positive but not exploding. The validation curve improves with training and does not separate sharply from train loss.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bb2052bdc4293"/>
          <a:stretch xmlns:a="http://schemas.openxmlformats.org/drawingml/2006/main"/>
        </p:blipFill>
        <p:spPr>
          <a:xfrm xmlns:a="http://schemas.openxmlformats.org/drawingml/2006/main">
            <a:off x="809625" y="1432050"/>
            <a:ext cx="7143750" cy="408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205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285BF-A1AF-4CEC-8AE3-658D8A3C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BOOSTING CURVES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57549-D5AB-47B7-9590-9771789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Separate E, px, py, pz train/validation losses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DCF47-A247-43BB-B7CC-3965A13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96A58-8859-41A5-834F-3BAFB556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Boosting curves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0681A-1E7B-4516-BAE8-A302F864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af535165848e4"/>
          <a:stretch xmlns:a="http://schemas.openxmlformats.org/drawingml/2006/main"/>
        </p:blipFill>
        <p:spPr>
          <a:xfrm xmlns:a="http://schemas.openxmlformats.org/drawingml/2006/main">
            <a:off x="1182004" y="1409700"/>
            <a:ext cx="3827243" cy="21907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688ed1ab245c6"/>
          <a:stretch xmlns:a="http://schemas.openxmlformats.org/drawingml/2006/main"/>
        </p:blipFill>
        <p:spPr>
          <a:xfrm xmlns:a="http://schemas.openxmlformats.org/drawingml/2006/main">
            <a:off x="1182004" y="3857625"/>
            <a:ext cx="3827243" cy="21907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9de38f4094885"/>
          <a:stretch xmlns:a="http://schemas.openxmlformats.org/drawingml/2006/main"/>
        </p:blipFill>
        <p:spPr>
          <a:xfrm xmlns:a="http://schemas.openxmlformats.org/drawingml/2006/main">
            <a:off x="7039879" y="3857625"/>
            <a:ext cx="3827243" cy="2190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fa0a20715404f"/>
          <a:stretch xmlns:a="http://schemas.openxmlformats.org/drawingml/2006/main"/>
        </p:blipFill>
        <p:spPr>
          <a:xfrm xmlns:a="http://schemas.openxmlformats.org/drawingml/2006/main">
            <a:off x="7039879" y="1409700"/>
            <a:ext cx="3827243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6619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B24BC-5CBE-41A2-9B01-15E23128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BOOSTING CURVES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FAA5E-EE20-4A07-8E49-6C7EDCC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Native head losses and train-validation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1DCA0-7C25-494B-BF62-98BDEBF6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8CB03-1CD4-4DAB-BF73-8720FB07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Boosting curves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31B12-A080-47FB-A94B-EFFBE62D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007ac89cb4d37"/>
          <a:stretch xmlns:a="http://schemas.openxmlformats.org/drawingml/2006/main"/>
        </p:blipFill>
        <p:spPr>
          <a:xfrm xmlns:a="http://schemas.openxmlformats.org/drawingml/2006/main">
            <a:off x="6984886" y="1428750"/>
            <a:ext cx="3651479" cy="2095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4328d0bc446c9"/>
          <a:stretch xmlns:a="http://schemas.openxmlformats.org/drawingml/2006/main"/>
        </p:blipFill>
        <p:spPr>
          <a:xfrm xmlns:a="http://schemas.openxmlformats.org/drawingml/2006/main">
            <a:off x="1567407" y="4048125"/>
            <a:ext cx="3151686" cy="18097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1f39eb07740b3"/>
          <a:stretch xmlns:a="http://schemas.openxmlformats.org/drawingml/2006/main"/>
        </p:blipFill>
        <p:spPr>
          <a:xfrm xmlns:a="http://schemas.openxmlformats.org/drawingml/2006/main">
            <a:off x="1451708" y="1428750"/>
            <a:ext cx="3287834" cy="23812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30c2fbadb481c"/>
          <a:stretch xmlns:a="http://schemas.openxmlformats.org/drawingml/2006/main"/>
        </p:blipFill>
        <p:spPr>
          <a:xfrm xmlns:a="http://schemas.openxmlformats.org/drawingml/2006/main">
            <a:off x="7146606" y="3952875"/>
            <a:ext cx="3328037" cy="190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4360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BA1D5-0D81-4014-9E7A-F261A6C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HEADLINE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5BD04-602F-4B69-AF71-63469C9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Locked focus-test performance for M1_xgb_focus_only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20E91-96C8-4E38-9DDB-219D26F8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1D3BA-49DF-4061-9066-60BDED2A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Headline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8B21A-6354-4A36-98BE-5CECAB0B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3AA39-2E5D-44B5-9008-CC33911A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B67D9-8E70-4B5C-B116-AE6C897F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DB778-A8DF-4B20-A63C-1AD45D54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0.2044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04263-A323-4711-B02C-325107B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macro RMS relative four-vector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38B97-95C5-4FA6-9A72-C6AACE42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9CAD4-1ABE-4449-A2CA-85ECE8D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58485-715A-45ED-8198-57DC2BCC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621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0.2186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08906-E109-463D-9F85-D0C1D5E7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4312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micro RMS relative four-vector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1E306-357A-406E-9254-C30C8A2C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19BEB-669B-4CB2-A093-03144923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A2987-CDAC-40FB-9C44-4D3DFB66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621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11.48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F19FA-365C-442C-82CC-59F00A92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4312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energy MAE, GeV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ABFA9-621E-4F37-B3C7-3BCE73C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37256-E486-411E-ABF2-5D31C712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4E9AA-FDB0-46D4-8D7B-64CF9EC0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15.44%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261DF-4021-4110-B243-84AA4A5D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4312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energy relative RMSE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1CF50-5F61-4153-AB68-6578D9B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1AEFA-B840-432B-AEB2-BECFA47A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674FC-AA87-4C3D-801F-512FD68F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+2.38%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3A80C-F579-4432-840E-6ACE4444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mean energy response bias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94062-41A0-4333-A678-D5A3411C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4B0C6-A5B3-4CCE-BE3B-9707814C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B5A28-6A20-4199-9C03-F4B77D0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7.15%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006E5D-14A9-41E5-9173-D1C24E10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385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central-68 energy width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C9851D-51E9-4DFA-9EB4-BE2727B9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4ADC2-10D1-412A-837B-D8055CE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2C30CE-DCCF-481B-9CD9-278FCDF9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575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5.87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581C6-BB9D-4582-B084-1F69A398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385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median angular error, mrad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1264B-8246-4AAF-87E1-76A33952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C30D8-DD83-4CD2-8392-08841429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FDB43F-1DDC-4EBC-A7DE-3EBC4A61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16.62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A2A8CF-2434-4166-890E-815894DB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95% angular error, mrad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78D640-0EE2-42FF-BE3D-629964ED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06D6CA-AA9D-43C1-8523-BD1D7F4D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19675"/>
            <a:ext cx="697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 this slide carefully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67461F-A4C0-498F-8F5C-51262860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86375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These are final locked-test metrics on 50-250 GeV events. They are not validation numbers and they are not previous-model comparison numbers.</a:t>
            </a:r>
          </a:p>
        </p:txBody>
      </p:sp>
    </p:spTree>
    <p:extLst>
      <p:ext uri="{BB962C8B-B14F-4D97-AF65-F5344CB8AC3E}">
        <p14:creationId xmlns:p14="http://schemas.microsoft.com/office/powerpoint/2010/main" val="77763157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50B4DB-1B31-487D-8E3B-6BB3AC9C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780C8-C305-40CB-929D-95D061C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Predicted vs true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B710A-4346-4507-ADDE-79ECAE51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0681C-B92C-424E-9F67-880969C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AAC3A-6DBD-489D-828C-7403556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D88E6-7531-4E85-A4F9-A421DDC6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The diagonal pattern shows the four outputs track truth across the focus population. Energy and pz are harder because forward energy and longitudinal momentum carry the main scale.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cf2c8012e4f9f"/>
          <a:stretch xmlns:a="http://schemas.openxmlformats.org/drawingml/2006/main"/>
        </p:blipFill>
        <p:spPr>
          <a:xfrm xmlns:a="http://schemas.openxmlformats.org/drawingml/2006/main">
            <a:off x="3125888" y="1381125"/>
            <a:ext cx="5463974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8392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69216-C50D-414C-95B4-73105064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766C4-BB56-48B5-B4BC-24852924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 residual sizes explain where the error lives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DA7A5-54BC-4527-8A12-F0A53AA2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D9938-5723-431A-B5DD-B2E3080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39C9F-D28C-458E-AB5D-7AD7B441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AC857-B8C6-414F-B143-A1C2453D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006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CEB95-C05D-41AF-8D70-F560BE8C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387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6BB2F-7753-4776-BFB7-E15CE40C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006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F97D8-FEC1-4485-86AF-33522E65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387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GeV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C47E3-099E-4579-82FD-823CB564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006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5A8F6-3CDD-42DE-80BE-6EB7DFD1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0387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RMSE GeV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D9D18-9675-4066-9404-16306BCA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006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3E45D-41D8-42A0-99A3-E6971A0C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387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5575B-58A5-497C-9D9D-BB8C8225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00625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008C0-7D30-4984-98B5-4AC3462B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3872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p95 abs err GeV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E53E2-023B-4CAE-8F9D-08A24262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054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BBAFC-6631-46ED-8BA1-82837586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43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B4B66-DECB-4D9C-8E07-75E1D4D3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05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598AF-7471-44A7-8DC9-7C10482E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435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11.48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E6BA8-366A-438D-8DE9-2F178E96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054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8F187-2FBB-453B-A06C-E8D8FDC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435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20.06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B37BE-2D5B-4537-B693-6B9E1855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054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766B9-CDE9-4B67-ABDE-45E9961A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343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0.879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9B58A-6AC2-4A10-B277-A89CCEEC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05425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D529C-DB6B-498B-B23B-79210CAB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34352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42.86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CFF94F-C93A-4B78-A198-1053F714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102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1BD62F-CF8C-4E19-80C2-F60D141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6483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DA22BB-AE22-47E7-B58F-2FBFA528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02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4CDBD-E2DE-428F-88AC-BE12F4B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6483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2.37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563BD-08A4-44FB-9029-CCDE676B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102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37877-0366-4AA0-AA8E-8AAC0821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6483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5.06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4DCB1-7389-42DF-9165-C4345A27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102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5D7E2-097B-451A-B37D-4B6C313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648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0.968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89B3CA-A347-4468-B595-C0031116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10225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6A2FA-A484-4294-B9F9-BA8DFAA7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64832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9.85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1E28B3-933E-4D6C-BF14-78DDFB09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150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ACCDD4-B25B-4094-A5DB-B8DEF258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53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465A70-FC52-44DD-B3A5-BD42394B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150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165D24-AA6A-494C-97D3-88A0B720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9531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2.38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EFFC9C-F01D-489C-B8F1-A280EF3A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9150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5241CC-5C11-4223-928E-2F77D727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531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5.06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A52C4-63A9-400B-A328-B4ACF8AD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9150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3A3073-CC5E-405C-85E2-FFBA4578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953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0.967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0C0046-927C-405F-957D-1204B525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15025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62D65B-8475-475C-99CB-B46A1C3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95312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10.11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11A76D-AF54-44AA-834D-1E52B12A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198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106669-F89B-42CB-B077-E07CBB72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57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pz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27DC01-2540-4279-BD3F-22C7CB9E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198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E6ED78-C37D-474A-96A1-14524429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2579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10.89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157ADF-E9C7-4C76-B362-38F77EC4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2198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2E6F6B-53A8-48EE-9DED-EE772DC8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2579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18.81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827937-1ABC-4A0F-B034-94618CAB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219825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CCFF03-48A1-412B-A5BF-11CAAD78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2579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0.887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DF0256-CF38-4C85-84F2-986C3113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219825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35CADE-E348-4F61-948A-704C09DB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25792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40.24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C9179B-A9F0-48A4-89F2-63F9F05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00625"/>
            <a:ext cx="6334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F9E0FD-30A4-41E6-B4DC-81DB619E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Focus test only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B4EAA3-5A80-45F7-AEF1-F6664526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102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Transverse components are much tighter than E and pz; that is normal for a forward neutron where most momentum is longitudinal.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1df33f8b84559"/>
          <a:stretch xmlns:a="http://schemas.openxmlformats.org/drawingml/2006/main"/>
        </p:blipFill>
        <p:spPr>
          <a:xfrm xmlns:a="http://schemas.openxmlformats.org/drawingml/2006/main">
            <a:off x="681148" y="1409700"/>
            <a:ext cx="4733703" cy="3143250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326758b9843a2"/>
          <a:stretch xmlns:a="http://schemas.openxmlformats.org/drawingml/2006/main"/>
        </p:blipFill>
        <p:spPr>
          <a:xfrm xmlns:a="http://schemas.openxmlformats.org/drawingml/2006/main">
            <a:off x="6191250" y="2156637"/>
            <a:ext cx="5143500" cy="1649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8437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FADE5F-BEA1-4486-A095-01FD09A3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ENERGY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D422C-36C9-4AF0-9A1C-E1A7C6B6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Response density and one-dimensional residual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2E9AE-E395-44ED-BC42-A62FBE9A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B5128-084A-4DA1-BDAE-6FFBF355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Energy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897A0-D424-4E58-9408-B14AE09F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B8135-DBB5-4183-9091-91EBB13B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0FABF-5D2D-40A2-9BF8-EBE25C0D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Mean response: 1.0238; median response: 1.0166.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0E514-2EC7-4A87-80D8-1E851F6A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3E9B3-7CD2-45C0-A3C9-9A59100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Central 68% width of relative energy response: 7.15%.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B3559-FC63-4DD5-A0D1-C3A8455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00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A561E-1E72-4328-A515-9A382FFE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334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Energy MAE is 11.48 GeV on the focus test population.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D596E-3B84-4183-BF1A-B3373326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81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D07F8-EC41-462C-82F5-8CEECC21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715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residual tail drives RMSE above the central width, so slice and tail plots matter.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934e6ce20405e"/>
          <a:stretch xmlns:a="http://schemas.openxmlformats.org/drawingml/2006/main"/>
        </p:blipFill>
        <p:spPr>
          <a:xfrm xmlns:a="http://schemas.openxmlformats.org/drawingml/2006/main">
            <a:off x="1021710" y="1428750"/>
            <a:ext cx="4147830" cy="36195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7f8f611904b3f"/>
          <a:stretch xmlns:a="http://schemas.openxmlformats.org/drawingml/2006/main"/>
        </p:blipFill>
        <p:spPr>
          <a:xfrm xmlns:a="http://schemas.openxmlformats.org/drawingml/2006/main">
            <a:off x="6477000" y="1603375"/>
            <a:ext cx="4476750" cy="2984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8025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AD999-AF0D-4EBE-BA5D-DDD68F5C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ENERGY SLICES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350E6-D7ED-44B2-8720-3DCFAD62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Bias and resolution by generator-energy region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8ACE4-A6E4-4AF7-84EC-3A627284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BB194-E3C2-49D6-A3CC-E62D4532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Energy slices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D629-ADA1-4363-9B42-BDE06EB9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24B26-E3F2-4E19-BED9-4FD3E93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4E29B-1DDC-47C4-8834-53549845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67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065B1-C7B9-4469-9385-B25FA46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006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single headline error can hide low-energy or high-energy slice problems.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31C34-72C7-4D15-A5F2-3B601053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38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11C1A-DCF7-49F8-9F5B-4E6E6379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5721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model is selected on macro RMS across focus bins to keep slices visible.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caf683ffb4c71"/>
          <a:stretch xmlns:a="http://schemas.openxmlformats.org/drawingml/2006/main"/>
        </p:blipFill>
        <p:spPr>
          <a:xfrm xmlns:a="http://schemas.openxmlformats.org/drawingml/2006/main">
            <a:off x="8096250" y="2357022"/>
            <a:ext cx="3238500" cy="1143831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6c7108d294650"/>
          <a:stretch xmlns:a="http://schemas.openxmlformats.org/drawingml/2006/main"/>
        </p:blipFill>
        <p:spPr>
          <a:xfrm xmlns:a="http://schemas.openxmlformats.org/drawingml/2006/main">
            <a:off x="523875" y="2144275"/>
            <a:ext cx="7239000" cy="26647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9226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A7DF6-D925-44A7-9033-272D7D3D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MOMENTUM SLICES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567E1-3912-4216-94A9-08849784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 bias and resolution by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AA3F1-E067-4A4C-89A7-4010227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BA298-AF75-43EE-AF96-93F5BD8D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Momentum slices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A5ED1-6D13-4B81-8A8D-09D884A2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15A7D-EB50-491A-9643-FD3EF9EC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px and py behave similarly and remain much narrower than pz. Longitudinal momentum follows the energy scale, so pz inherits much of the energy-resolution challenge.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e0fd56767417e"/>
          <a:stretch xmlns:a="http://schemas.openxmlformats.org/drawingml/2006/main"/>
        </p:blipFill>
        <p:spPr>
          <a:xfrm xmlns:a="http://schemas.openxmlformats.org/drawingml/2006/main">
            <a:off x="428625" y="1696784"/>
            <a:ext cx="10668000" cy="3797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6441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0F5E7-5CA8-4ED6-9FCC-0335E78C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C4CCF-F917-4BC0-A48D-9289FB1C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Angular error is small for the focus-test population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E60CC-F2D3-4889-9B1F-F2D2B409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61AF2-9830-4ED4-AE79-C902F8E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6E1C9-3647-4C9C-BF8B-37533C1A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6B1F0-E745-4B57-9625-95581B04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85EE0-9532-41FE-90EE-6442BC06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FEC5E-FD93-4F76-8FED-F4F4598D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5737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EACD6-FB74-4C26-BCC8-61EE3F35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valid direction fraction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E94D3-13E0-45EE-92B4-8B8347FB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2F264-4750-4786-B7CC-FD10661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057A1-8BBF-4923-9780-0F912CC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051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5.87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F423F-9D87-4D66-940D-93BF2E8E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861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median angular error, mrad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50237-05EB-49FB-AC6C-3E1D5B2F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7E591-8523-49AF-97AB-34938308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A208C-7D19-4B9B-A190-1C02BCBB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5287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7.98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120E4-9DA4-4D6A-A78E-5C15C147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68% angular error, mrad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3D6BA-B91B-464D-BF50-5A006A12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84415-29CE-4097-B1A5-89CDA1B7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5237E-ED0D-42CF-9796-8E7A41B5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006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B1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B183"/>
                </a:solidFill>
                <a:latin typeface="Arial"/>
                <a:ea typeface="Arial"/>
                <a:cs typeface="Arial"/>
              </a:rPr>
              <a:t>16.62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3EE9C-E9FE-49CE-8A13-145AAA5B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816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95% angular error, mrad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E48C6-763E-4658-A3FB-6D873FA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Angular error is computed from the dot product of true and predicted unit directions, then converted from radians to milliradians.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df8569477441c"/>
          <a:stretch xmlns:a="http://schemas.openxmlformats.org/drawingml/2006/main"/>
        </p:blipFill>
        <p:spPr>
          <a:xfrm xmlns:a="http://schemas.openxmlformats.org/drawingml/2006/main">
            <a:off x="857250" y="2272457"/>
            <a:ext cx="6286500" cy="23130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8900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CC5065-4503-445D-8A77-B0B52C6C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PHYSICS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CEA31-1AD8-4E43-8DC4-F317F7E1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Mass-shell residual confirms the projection is numerically clean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36B70-AC9A-4A17-877F-041F0902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F98D8-D1A6-4D32-B34E-EE3D7E91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Physics QA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7322E-5410-48F2-826D-396ADA4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09837-E56B-45CA-81A1-5E3A553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BCE54-40C8-4961-B40C-B505BE04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25F1-175F-4404-8936-8A357C52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residual = E_hat^2 - px_hat^2 - py_hat^2 - pz_hat^2 - m_n^2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max |residual| = 3.277e-11 GeV^2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RMS residual = 5.62e-12 GeV^2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24A28-1D53-485D-868D-6A96ECD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35D3C-BF22-482C-AF50-70C9059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148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6213A-9BB7-4529-8005-6C274A9B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815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This does not say the model is perfect. It says the prediction is physically formatted as a neutron after postprocessing, so downstream analysis does not receive impossible four-vectors.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cc43241ac4dc3"/>
          <a:stretch xmlns:a="http://schemas.openxmlformats.org/drawingml/2006/main"/>
        </p:blipFill>
        <p:spPr>
          <a:xfrm xmlns:a="http://schemas.openxmlformats.org/drawingml/2006/main">
            <a:off x="1143000" y="2140371"/>
            <a:ext cx="5810250" cy="25772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0064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73EE4-A349-461E-97EB-3ED775D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B52D7-852B-4BC1-9706-104BDE38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Which features does XGBoost use most?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6749F-F6A2-4DDD-A794-1AEE99C9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1F8EF-7B2E-4847-AE68-F0922D07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81FEB-7FBA-4878-BC8C-DE67075B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7B72D-17FB-491A-BD38-734AA778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Top mean-gain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1E000-315D-44ED-8BAA-1A7761CE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CDACE-5084-4AD7-B9BF-A59E2D7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BAF61-3C47-4DB7-9F4A-22B316F8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C7080-D0A4-46E9-A75D-5C7C61D1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907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F2575-C51A-4791-BD07-7A33749C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526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51E0D-2960-4C62-9B08-8E1848A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907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39A6F-79D0-479E-9E40-5CE8B611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76475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0C76F-F83C-4977-8118-A6BEBC80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145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EB49B-7E21-4DE4-B918-C65C2D4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7647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58CA3-43B8-4243-BF29-738477F1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145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hcal_total_signal_gev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C3D0A-C8BC-4A6D-B405-F17F075B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764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9DD18-6433-43A4-8526-7618184C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14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47.41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277DF-107B-4504-A494-9414A610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00325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B55BC-F810-447B-BD43-6695A8A5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384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BC6CC-FF00-4851-A01D-5FC688AF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032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EFD8B-1982-4573-8680-C47A0D27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384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hcal_density_bin02_energy_frac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B4447-11AC-4FA4-9635-CA91A5E3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003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0D25A-ED69-4EBA-A5D0-B605C18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384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11.27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13702-DFA2-41E2-BE5D-681F74FE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24175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918AD9-39E1-4CCD-9430-96CB23AD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62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F1838-2C18-49CE-AC73-1CE0783B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2417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0DB2AE-F14D-40A6-B152-920A15E1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622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hcal_top20_energy_frac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A72CF1-0F97-487C-8908-C7BEF47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241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30CF96-C93C-4217-8B26-E4B43B2A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4.95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C6C640-2FF6-4D4E-9DB7-379101DA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48025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12F7CA-BC00-478A-84DE-7EB24B1C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9ECCA-1033-4431-829D-E9C3251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4802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7A43B0-1773-4CFC-8F49-4E7AEFF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all_centroid_y_cm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D0D5A8-E918-419B-801D-C48A6386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480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AAE5C-607E-4E12-86C7-C516132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861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4.59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8E97ED-74F8-49DF-A4B7-D5F7F862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C8C63-9D1E-48D8-9132-F0CC3E7B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99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ED913-F8D0-4563-9347-4B4595E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7187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06EB68-C96E-456A-9566-7E5A92CF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99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hcal_centroid_x_cm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EC5C3E-9DBE-4B1F-B6B1-EF91D980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718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4AFA67-D35A-4E9D-B68C-5377FD13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09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4.54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3EC350-206E-4AA7-9292-99DBADD5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95725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E7A06C-F251-4368-B718-DE23404E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04A458-EF0D-476A-BBDE-097C6322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9572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EF4241-58D4-4FBC-9F97-AEA7CA2E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338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hcal_effective_n_hits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285714-2AA6-4CD3-8A73-8115985E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957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BE18F1-F22C-4A4A-8233-BDA9E25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338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4.38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B2ADA5-A5FE-43FD-9716-1A447D1C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19575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C4F8F6-B679-4C29-80F3-C7AA4C11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06AD89-3275-467A-AF96-C651B9DC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1957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F799EC-3573-4652-8406-817AECD3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576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axis_exit_min_margin_cm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6801B8-28E6-4ED2-A527-5A5B1B4D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195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1E67D1-15EA-4237-AEDE-7A2250DD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576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59BCD8-03C6-4F89-9417-609C9126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57187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85BA90-EBC9-4511-B976-8A6CED03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381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337211-6965-4A38-9A85-1858FCEE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76800"/>
            <a:ext cx="3114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Honest read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8C45BB-0D85-4209-9974-A5C7B86B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114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HCAL total signal dominates, but the model also uses shower concentration, centroid, effective hit count, and edge/leakage information.</a:t>
            </a:r>
          </a:p>
        </p:txBody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0a360438c4f18"/>
          <a:stretch xmlns:a="http://schemas.openxmlformats.org/drawingml/2006/main"/>
        </p:blipFill>
        <p:spPr>
          <a:xfrm xmlns:a="http://schemas.openxmlformats.org/drawingml/2006/main">
            <a:off x="864547" y="1381125"/>
            <a:ext cx="6271905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5974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55BA01-36C7-47C9-8A1C-431BD436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ERROR DRIVERS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67AAC-F847-40B0-96B5-0109871F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Tail events line up with leakage and shower-shape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0C1B7-4FD3-412D-84E9-17450738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DFCF9-F47F-4AFB-816F-8A1296C3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Error drivers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0B213-09DB-4B84-B185-F4934D16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9C012-F384-43C6-8605-E70D8B48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Use these as diagnostic clues, not causal proof. They point to which event shapes should be inspected when errors get large.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cb3ff31d14f62"/>
          <a:stretch xmlns:a="http://schemas.openxmlformats.org/drawingml/2006/main"/>
        </p:blipFill>
        <p:spPr>
          <a:xfrm xmlns:a="http://schemas.openxmlformats.org/drawingml/2006/main">
            <a:off x="4648215" y="3952875"/>
            <a:ext cx="2705069" cy="20955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25a988418404f"/>
          <a:stretch xmlns:a="http://schemas.openxmlformats.org/drawingml/2006/main"/>
        </p:blipFill>
        <p:spPr>
          <a:xfrm xmlns:a="http://schemas.openxmlformats.org/drawingml/2006/main">
            <a:off x="7061605" y="1381125"/>
            <a:ext cx="3640915" cy="223837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1ad999faa4f81"/>
          <a:stretch xmlns:a="http://schemas.openxmlformats.org/drawingml/2006/main"/>
        </p:blipFill>
        <p:spPr>
          <a:xfrm xmlns:a="http://schemas.openxmlformats.org/drawingml/2006/main">
            <a:off x="1203730" y="1381125"/>
            <a:ext cx="3640915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2981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27CB2-F9B6-483A-B69A-7DED1F60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STUDY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4FBE0-FE2F-4488-8A0C-40A7912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 behavior vs full 0-300 GeV test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D3296-4C9E-4953-A040-13CCEDE9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48A2E-6B8D-4BCA-BAFA-08EF6830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Study range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A3A1-E8CF-43AD-A9AE-D96D8B3D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EF0C2-6395-4421-91A4-C5B00791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A1AEE-BD6D-40D3-944F-8663DDE6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53050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focus is the headline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8D603-6148-4848-AC48-BF4351A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197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one-shot target is 50-250 GeV. The model can be evaluated on all 0-300 GeV test rows, but the accepted claim is the locked focus-test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026F0-220F-4D79-BA80-3B66CDA2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3875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A981D-A153-4F31-BBB3-B3E31E9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53050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 not extrapolate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F4592-4D18-499E-895B-64E2E7C4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197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 slide in this deck claims validity for other particle species, real-detector electronics, or data outside the simulated distribution.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83459d42449f8"/>
          <a:stretch xmlns:a="http://schemas.openxmlformats.org/drawingml/2006/main"/>
        </p:blipFill>
        <p:spPr>
          <a:xfrm xmlns:a="http://schemas.openxmlformats.org/drawingml/2006/main">
            <a:off x="6286500" y="1793384"/>
            <a:ext cx="5191125" cy="2661631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0a68476394f33"/>
          <a:stretch xmlns:a="http://schemas.openxmlformats.org/drawingml/2006/main"/>
        </p:blipFill>
        <p:spPr>
          <a:xfrm xmlns:a="http://schemas.openxmlformats.org/drawingml/2006/main">
            <a:off x="428625" y="2219889"/>
            <a:ext cx="5191125" cy="18086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7196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763CA5-48E9-4563-A260-54AB4996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6D604-A916-493E-8845-338270CC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Empirical validation intervals were checked once on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62F03-61EB-4BCB-93E9-175BF969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46AA3-82AD-477A-96C7-B8179BA4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Uncertainty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DEAD8-D865-496C-BFBC-B3BD3383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6298-2F02-4BC7-A751-822FA79E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2DFE5-4320-4213-BCF1-2C37A8A3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Nominal interval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1AFB2-3DC0-48D2-AA94-A0F484A5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32F6C-5535-4F93-8F59-A45753B5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573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2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abs-energy width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E039A-C649-434D-95E0-633600D5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A155C-E407-4F65-82C1-3D2C8B77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57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2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Focus-test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33FB2-A61E-4F85-9057-CC750225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F40BC-F461-49E7-8CE3-EC4717B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573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5F54E-1E07-4E12-909A-02280D27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FA9CC-B84C-47DB-8708-7F23C84D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9B3C2-36A3-4F1C-BD97-266ABD6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4CC95-43E1-4010-BEDD-825762DB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28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10.02 GeV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A2AB2-31BA-48E9-9868-B1D111B0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A5A36-54C4-43FD-AECD-764475AE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288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68.08%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93027-EDE8-41CA-8B15-E1BF190F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FC672-B796-4DD4-BF77-58DBC7F0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288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matches target closely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75BF8-CB5F-40E2-845E-A9ED9B21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1BF97-D6B4-4C1B-9971-F711E431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03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E042A-220A-41B4-BA33-7DF24AE1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56914-6C8F-4B55-A4B6-8BC8829D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003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27.99 GeV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FBA349-FCF8-4E02-891C-B1ED35AF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16BCE-CFA7-4B85-9394-0562F52D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0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90.21%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30A0C6-8563-434F-B73B-13B6239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7BCC3-AEB8-4C92-9DC6-4CF7E3EB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matches target closely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280B1-A6D4-48C1-925E-F84593AC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10E77-8F50-4CDE-A502-C4C79D2E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6A27A5-8688-4FD9-8FF7-F82F54AF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96C1CC-B534-4FBF-9AF3-649D606B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71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43.11 GeV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7DEDB-49B6-4C1F-83A1-852F15FF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F644EE-98E5-4E20-A7F3-1CC357C7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718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95.06%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32216-AF91-4D7B-B962-CA6B7A43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00B1B-778B-4493-B638-D582D77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matches target closely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CED856-FAF2-40AD-9F43-8C100379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6FB03D-FE8E-4B1E-9138-0E193B08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4953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361E6E-CABD-4B57-9B59-82F461EA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57675"/>
            <a:ext cx="464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Calibration source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EA7865-7A5E-4975-9C0F-538588D3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00575"/>
            <a:ext cx="464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Validation focus is reused for model selection and calibration.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interval_width_c = quantile(|E_true - E_hat_cal|, c)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coverage_c = mean(|E_true - E_hat_cal| &lt;= interval_width_c) on test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85889E-11BE-4B7B-B205-3CE61DD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3524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6C3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C3CF2E-2AA4-4F5E-B101-1680BAEE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529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Caveat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FEBEAF-CA88-486A-8EB5-2F461C28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19625"/>
            <a:ext cx="3257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These are empirical intervals, not a formal split-conformal guarantee, because there is no independent calibration split after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72147156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36503-A282-4630-A498-CC1A4C5C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QA AND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E653C-3320-4565-8F2A-C5CA881D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was checked before accepting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4E086-2646-4074-A347-3DFA1082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6C2CB-71F7-4CB0-B24E-94438417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QA and QC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38073-2515-4A71-9792-FC385257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24C8D-E313-4A16-B8C6-A8E1BAE6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477D2-3BD2-4E17-8E7A-F162D28F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89065-477E-416D-BD98-CCA473BE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28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8940E-3194-482B-B510-EF5069DA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668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E1818-6FB1-4446-A39B-C339F76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287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C02CA-AE76-45EB-A019-FB624B23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668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C8AE0-44A0-4DED-B3B8-104930F3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28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DD442-2E05-4A17-A20B-E83E8614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Repository/read-me intake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CEE82-A24B-4E5E-8243-F47EBF54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288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20985-1018-4F81-A77B-1DDA739D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F423F-3FD7-48A8-A376-D8F59CE8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288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BBED5-79F4-48C3-8F04-0627BF1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669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 task files and repo structure before continuing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5EFB1-819E-4B3B-9C61-69DEC2E3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28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19223-F878-4D31-9BDA-14FFF53E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Local source sanity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77740-EBEB-4DE5-854A-5AA97E84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288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C81A1-03D9-4662-8285-057D6A85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96299-0A04-4507-ACEC-14C57CE9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288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28D35-3C0A-44A7-AAD5-6492115D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compileall, unittest, pytest, Ruff, smoke from clean 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0BC31D-8320-4E25-BF08-6528BB3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11805-AF50-4CA1-A374-97E6DC6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Data staging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1E702-5821-460B-8C6B-EE2EE8EF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289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5E7A1-7DE6-4B5C-BD93-DC4D3F74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62459B-A3E2-485F-B69D-01601871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289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0B832-9AE8-4A2F-B347-F14C13D9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local ROOT matches US-CENTRAL1 GCS object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0BCBB2-64B4-4A99-A974-2D8B7A98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15C8B-35D1-4F13-B751-A924FBCB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Truth convention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FF9715-0232-429F-B943-F3A08CA7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289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9EF631-876C-4B6A-A563-54A4AE15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95C85E-85F2-42B7-9838-59C4D308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289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8E54A9-892A-4FF5-A377-108D00F7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single neutron; total-energy GeV mass-shell closure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E65C93-920A-488A-B40B-C70E8003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919C89-827C-417D-9C90-7EC9F91A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Hit unit contract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29B28A-93C4-4066-9411-753DA157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4CB65F-35F7-43FB-90CB-F9D5896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671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22F181-0429-4E7C-8F36-F39B536E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706DCA-03BB-4E09-ADB1-5CF25F94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ecal_energy/hcal_energy locked as GeV simulated deposits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61095C-FCFB-4723-B34E-B97441A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94EC6E-C647-4C1B-B9BE-4F33C13A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Split integrity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5EAF00-8219-46C6-B3EB-AD607902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290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A2B7A5-A8B8-4AEA-B58E-D54A8D4D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671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C1FF83-3A2A-4E21-914E-B1D9D98E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290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FBC676-04D3-40AB-902B-2EB2E2F3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group-safe deterministic split; no duplicate fingerprint leakage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5D2335-972E-4DDB-9364-88F66FAD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67B1C7-CA68-44DA-BA7C-A49C3AE9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Model selection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2DB07D-79AC-4173-B30D-38A5AD4B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291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930E78-06CB-4707-A6EA-3D6B5D9F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FABE69-F1D2-4958-B921-E2524712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291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07B156-DE03-4222-9658-7F360E43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672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validation-focus macro score selects M1_xgb_focus_only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D2E1DB-18D3-4DC9-80DD-6E710D01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291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3CB902-8A79-4B28-9A90-1C1B0F39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Test unlock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9ADBF2-C157-499D-AF5E-189806B9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291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4A1AB5-BF4F-4AAC-9621-6C78B2DF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8B875D-B292-4AE9-B01F-8E03FBB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291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E03B8F-806E-485A-B2C4-7DFEBA22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test read occurs after selection and calibration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D03D83-5181-495D-B100-DA1E06D9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5D3758-4422-4973-A11A-B85D34E8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Physics output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71F851-D015-4DCF-90FF-3F9852E0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292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B97BF1-C029-424A-BAEF-981A702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EA1F57-B869-401F-B083-766ADF0C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292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FD63EC-F340-4DF8-BF30-18ECE889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mass-shell residual max 3.28e-11 GeV^2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6D6AEE-73C4-482B-9CB8-8E10B40B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7496B1-5A9D-40B4-891B-0100146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Presentation QA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BE95B9-6079-4EC2-8B54-70640B2C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AFE1B9-54CD-48FA-8E9B-31483F1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673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09806B-159B-4910-AE61-C94ED188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4292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6668">
            <a:solidFill>
              <a:srgbClr val="C7C7C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8A5BFE-D69E-4737-A1E7-DEC1CBB0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673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render, montage, overflow test, and visual inspection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C7B523D-752F-4A5D-8715-F2CC9AA5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0965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C7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490659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B364C-EACF-42F9-A8D0-AFA12D3A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REBUILD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4F052-5A94-4EC6-8749-56DF91D2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a colleague can reproduce this if they have the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54691-D7A3-447E-B246-055C972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14109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8BD9A-B631-47A5-AF73-7411D85E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ASIoP ZDC - FOUR-VECTOR RECO - Rebuild recipe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33FF6-29F8-4420-A0BA-2DCF265B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0CBD3-556D-4AFD-9632-E4DC3188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1.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FB677-9A57-414A-888D-D91A03FC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668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Place the ROOT file in GCS or local disk. Expected object: myTree_20251117_765k_0to300GeV_neutron_All.root, SHA-256 b7c666040e42352e158a9a3f78158d147cb2e056c6c88248d892c956f5c7b533.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97B8D-E86E-4BFE-A949-D96AD14F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2. 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D567D-2459-4084-BD0D-8D0AD60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configs/legacy_vertex_default.yaml. Critical values: neutron mass 0.93956542052 GeV, focus 50-250 GeV, train/validation/test 80/10/10, ECAL/HCAL signal scale 1.0, position scale 0.1 cm, 195 scalar detector features, XGBoost params from slide 13.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2FAF2-53D8-4B25-A778-3DB44B90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3. Run on Vertex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5255C-8685-41FC-B9C7-6983C58A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C2061-FBEC-4C96-A070-B2FB188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62300"/>
            <a:ext cx="779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4E0BC-F491-4EF7-BD07-6E1F5FA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05200"/>
            <a:ext cx="7791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DATA_GCS=gs://asiop-zdc-1-zdc-reco-us-central1/data/myTree_20251117_765k_0to300GeV_neutron_All.root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OUT_GCS=gs://asiop-zdc-1-zdc-reco-us-central1/runs/rebuild-&lt;DATE&gt;/outputs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python -m zdc_reco.cli run-all-gcs \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--data-gcs $DATA_GCS --output-gcs $OUT_GCS \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--config configs/legacy_vertex_default.yaml \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--workdir /tmp/zdc_run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D5F54-CA9C-430C-8DFF-FE2AC764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4. Verify and present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ABF37-C1E1-40DF-B44B-6FAE20B7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29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C8C81-981B-4EE5-BFCD-C399271B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Verify outputs: inspection report, schema lock, targets, splits, feature manifest, leaderboard, champion, calibration, test metrics, interval coverage, and plots.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8BD7E-1F26-4F6C-BB1D-C1A54EB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19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4C5BA-CEDD-471B-902C-BE019A3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53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Expected headline result for this accepted run: macro RMS 0.2044, energy MAE 11.48 GeV, angular median 5.87 mrad, on-shell residual max 3.28e-11 GeV^2.</a:t>
            </a:r>
          </a:p>
        </p:txBody>
      </p:sp>
    </p:spTree>
    <p:extLst>
      <p:ext uri="{BB962C8B-B14F-4D97-AF65-F5344CB8AC3E}">
        <p14:creationId xmlns:p14="http://schemas.microsoft.com/office/powerpoint/2010/main" val="1837841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2026-07-11T12:43:05.4470000Z</dcterms:created>
  <dcterms:modified xsi:type="dcterms:W3CDTF">2026-07-11T12:43:05.4470000Z</dcterms:modified>
</coreProperties>
</file>