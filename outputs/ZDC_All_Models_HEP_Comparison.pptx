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52ed0645874572" /><Relationship Type="http://schemas.openxmlformats.org/officeDocument/2006/relationships/extended-properties" Target="/docProps/app.xml" Id="Re5e8ee9173234e84" /><Relationship Type="http://schemas.openxmlformats.org/officeDocument/2006/relationships/officeDocument" Target="/ppt/presentation.xml" Id="R1b8d6b1fc19a48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61a796a30d40ce"/>
  </p:sldMasterIdLst>
  <p:notesMasterIdLst>
    <p:notesMasterId xmlns:r="http://schemas.openxmlformats.org/officeDocument/2006/relationships" r:id="R87ec1c93edf54b00"/>
  </p:notesMasterIdLst>
  <p:sldIdLst>
    <p:sldId xmlns:r="http://schemas.openxmlformats.org/officeDocument/2006/relationships" id="256" r:id="R410709e727b14d74"/>
    <p:sldId xmlns:r="http://schemas.openxmlformats.org/officeDocument/2006/relationships" id="257" r:id="R95250806af6b4703"/>
    <p:sldId xmlns:r="http://schemas.openxmlformats.org/officeDocument/2006/relationships" id="258" r:id="R09da420999c1452e"/>
    <p:sldId xmlns:r="http://schemas.openxmlformats.org/officeDocument/2006/relationships" id="259" r:id="R07344936687c4ecb"/>
    <p:sldId xmlns:r="http://schemas.openxmlformats.org/officeDocument/2006/relationships" id="260" r:id="R3d6b301a14f447e9"/>
    <p:sldId xmlns:r="http://schemas.openxmlformats.org/officeDocument/2006/relationships" id="261" r:id="Rd8aa3945dcff4154"/>
    <p:sldId xmlns:r="http://schemas.openxmlformats.org/officeDocument/2006/relationships" id="262" r:id="Rbfe65541496345cc"/>
    <p:sldId xmlns:r="http://schemas.openxmlformats.org/officeDocument/2006/relationships" id="263" r:id="R48ea8437a96f4ca3"/>
    <p:sldId xmlns:r="http://schemas.openxmlformats.org/officeDocument/2006/relationships" id="264" r:id="R88b27e2af653426b"/>
    <p:sldId xmlns:r="http://schemas.openxmlformats.org/officeDocument/2006/relationships" id="265" r:id="Rf3694ef324a24108"/>
    <p:sldId xmlns:r="http://schemas.openxmlformats.org/officeDocument/2006/relationships" id="266" r:id="R96aa688e1d3e41f8"/>
    <p:sldId xmlns:r="http://schemas.openxmlformats.org/officeDocument/2006/relationships" id="267" r:id="Rf08d1021db814d16"/>
    <p:sldId xmlns:r="http://schemas.openxmlformats.org/officeDocument/2006/relationships" id="268" r:id="R7f4f71c00cd248be"/>
    <p:sldId xmlns:r="http://schemas.openxmlformats.org/officeDocument/2006/relationships" id="269" r:id="R06cbd5bfff7b46a8"/>
    <p:sldId xmlns:r="http://schemas.openxmlformats.org/officeDocument/2006/relationships" id="270" r:id="R8420f860103447f1"/>
    <p:sldId xmlns:r="http://schemas.openxmlformats.org/officeDocument/2006/relationships" id="271" r:id="R1b0e5edd71894e75"/>
    <p:sldId xmlns:r="http://schemas.openxmlformats.org/officeDocument/2006/relationships" id="272" r:id="Rddb3a1537b894c95"/>
    <p:sldId xmlns:r="http://schemas.openxmlformats.org/officeDocument/2006/relationships" id="273" r:id="R54c6c6852df64221"/>
    <p:sldId xmlns:r="http://schemas.openxmlformats.org/officeDocument/2006/relationships" id="274" r:id="R6301dfd74e804f9e"/>
    <p:sldId xmlns:r="http://schemas.openxmlformats.org/officeDocument/2006/relationships" id="275" r:id="R2a30b664a5af4456"/>
    <p:sldId xmlns:r="http://schemas.openxmlformats.org/officeDocument/2006/relationships" id="276" r:id="R9a5925769a8a4278"/>
    <p:sldId xmlns:r="http://schemas.openxmlformats.org/officeDocument/2006/relationships" id="277" r:id="R4cccf090d8c34979"/>
    <p:sldId xmlns:r="http://schemas.openxmlformats.org/officeDocument/2006/relationships" id="278" r:id="R36afd7a42ec64dfc"/>
    <p:sldId xmlns:r="http://schemas.openxmlformats.org/officeDocument/2006/relationships" id="279" r:id="R844656c9a0fe4c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1b860b9d96452f" /><Relationship Type="http://schemas.openxmlformats.org/officeDocument/2006/relationships/slideMaster" Target="/ppt/slideMasters/slideMaster1.xml" Id="Re561a796a30d40ce" /><Relationship Type="http://schemas.openxmlformats.org/officeDocument/2006/relationships/notesMaster" Target="/ppt/notesMasters/notesMaster1.xml" Id="R87ec1c93edf54b00" /><Relationship Type="http://schemas.openxmlformats.org/officeDocument/2006/relationships/presProps" Target="/ppt/presProps.xml" Id="Rd640819a373f4c87" /><Relationship Type="http://schemas.openxmlformats.org/officeDocument/2006/relationships/tableStyles" Target="/ppt/tableStyles.xml" Id="R9340968a9ffd4d86" /><Relationship Type="http://schemas.openxmlformats.org/officeDocument/2006/relationships/slide" Target="/ppt/slides/slide1.xml" Id="R410709e727b14d74" /><Relationship Type="http://schemas.openxmlformats.org/officeDocument/2006/relationships/slide" Target="/ppt/slides/slide2.xml" Id="R95250806af6b4703" /><Relationship Type="http://schemas.openxmlformats.org/officeDocument/2006/relationships/slide" Target="/ppt/slides/slide3.xml" Id="R09da420999c1452e" /><Relationship Type="http://schemas.openxmlformats.org/officeDocument/2006/relationships/slide" Target="/ppt/slides/slide4.xml" Id="R07344936687c4ecb" /><Relationship Type="http://schemas.openxmlformats.org/officeDocument/2006/relationships/slide" Target="/ppt/slides/slide5.xml" Id="R3d6b301a14f447e9" /><Relationship Type="http://schemas.openxmlformats.org/officeDocument/2006/relationships/slide" Target="/ppt/slides/slide6.xml" Id="Rd8aa3945dcff4154" /><Relationship Type="http://schemas.openxmlformats.org/officeDocument/2006/relationships/slide" Target="/ppt/slides/slide7.xml" Id="Rbfe65541496345cc" /><Relationship Type="http://schemas.openxmlformats.org/officeDocument/2006/relationships/slide" Target="/ppt/slides/slide8.xml" Id="R48ea8437a96f4ca3" /><Relationship Type="http://schemas.openxmlformats.org/officeDocument/2006/relationships/slide" Target="/ppt/slides/slide9.xml" Id="R88b27e2af653426b" /><Relationship Type="http://schemas.openxmlformats.org/officeDocument/2006/relationships/slide" Target="/ppt/slides/slide10.xml" Id="Rf3694ef324a24108" /><Relationship Type="http://schemas.openxmlformats.org/officeDocument/2006/relationships/slide" Target="/ppt/slides/slide11.xml" Id="R96aa688e1d3e41f8" /><Relationship Type="http://schemas.openxmlformats.org/officeDocument/2006/relationships/slide" Target="/ppt/slides/slide12.xml" Id="Rf08d1021db814d16" /><Relationship Type="http://schemas.openxmlformats.org/officeDocument/2006/relationships/slide" Target="/ppt/slides/slide13.xml" Id="R7f4f71c00cd248be" /><Relationship Type="http://schemas.openxmlformats.org/officeDocument/2006/relationships/slide" Target="/ppt/slides/slide14.xml" Id="R06cbd5bfff7b46a8" /><Relationship Type="http://schemas.openxmlformats.org/officeDocument/2006/relationships/slide" Target="/ppt/slides/slide15.xml" Id="R8420f860103447f1" /><Relationship Type="http://schemas.openxmlformats.org/officeDocument/2006/relationships/slide" Target="/ppt/slides/slide16.xml" Id="R1b0e5edd71894e75" /><Relationship Type="http://schemas.openxmlformats.org/officeDocument/2006/relationships/slide" Target="/ppt/slides/slide17.xml" Id="Rddb3a1537b894c95" /><Relationship Type="http://schemas.openxmlformats.org/officeDocument/2006/relationships/slide" Target="/ppt/slides/slide18.xml" Id="R54c6c6852df64221" /><Relationship Type="http://schemas.openxmlformats.org/officeDocument/2006/relationships/slide" Target="/ppt/slides/slide19.xml" Id="R6301dfd74e804f9e" /><Relationship Type="http://schemas.openxmlformats.org/officeDocument/2006/relationships/slide" Target="/ppt/slides/slide20.xml" Id="R2a30b664a5af4456" /><Relationship Type="http://schemas.openxmlformats.org/officeDocument/2006/relationships/slide" Target="/ppt/slides/slide21.xml" Id="R9a5925769a8a4278" /><Relationship Type="http://schemas.openxmlformats.org/officeDocument/2006/relationships/slide" Target="/ppt/slides/slide22.xml" Id="R4cccf090d8c34979" /><Relationship Type="http://schemas.openxmlformats.org/officeDocument/2006/relationships/slide" Target="/ppt/slides/slide23.xml" Id="R36afd7a42ec64dfc" /><Relationship Type="http://schemas.openxmlformats.org/officeDocument/2006/relationships/slide" Target="/ppt/slides/slide24.xml" Id="R844656c9a0fe4c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8e9911ec254a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d5e895de8e450c" /><Relationship Type="http://schemas.openxmlformats.org/officeDocument/2006/relationships/notesMaster" Target="/ppt/notesMasters/notesMaster1.xml" Id="R23ce6ba217cb4f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04dc001b724c55" /><Relationship Type="http://schemas.openxmlformats.org/officeDocument/2006/relationships/notesMaster" Target="/ppt/notesMasters/notesMaster1.xml" Id="R027ae98395ed49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9d495bd3c44c48" /><Relationship Type="http://schemas.openxmlformats.org/officeDocument/2006/relationships/notesMaster" Target="/ppt/notesMasters/notesMaster1.xml" Id="R573c814047c34f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91724a7e624ffe" /><Relationship Type="http://schemas.openxmlformats.org/officeDocument/2006/relationships/notesMaster" Target="/ppt/notesMasters/notesMaster1.xml" Id="Rce4abd5ccad540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5bb47f52d44d5f" /><Relationship Type="http://schemas.openxmlformats.org/officeDocument/2006/relationships/notesMaster" Target="/ppt/notesMasters/notesMaster1.xml" Id="R759d720739294d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bec832e4b14649" /><Relationship Type="http://schemas.openxmlformats.org/officeDocument/2006/relationships/notesMaster" Target="/ppt/notesMasters/notesMaster1.xml" Id="R5ec98c8cf9fe40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a354af3a524e32" /><Relationship Type="http://schemas.openxmlformats.org/officeDocument/2006/relationships/notesMaster" Target="/ppt/notesMasters/notesMaster1.xml" Id="Raa0c1a8ea6124e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5ad5c85dce43bf" /><Relationship Type="http://schemas.openxmlformats.org/officeDocument/2006/relationships/notesMaster" Target="/ppt/notesMasters/notesMaster1.xml" Id="Ra1640c8745d24d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645f5b15d44553" /><Relationship Type="http://schemas.openxmlformats.org/officeDocument/2006/relationships/notesMaster" Target="/ppt/notesMasters/notesMaster1.xml" Id="R2bd2d49b08304a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bcadc88c454049" /><Relationship Type="http://schemas.openxmlformats.org/officeDocument/2006/relationships/notesMaster" Target="/ppt/notesMasters/notesMaster1.xml" Id="R599af9f7baba40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a4917aa8fe4da1" /><Relationship Type="http://schemas.openxmlformats.org/officeDocument/2006/relationships/notesMaster" Target="/ppt/notesMasters/notesMaster1.xml" Id="Rd33f288bd83a4d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6ab01432784e79" /><Relationship Type="http://schemas.openxmlformats.org/officeDocument/2006/relationships/notesMaster" Target="/ppt/notesMasters/notesMaster1.xml" Id="R87562a8843b24b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becdb6c0a54ab2" /><Relationship Type="http://schemas.openxmlformats.org/officeDocument/2006/relationships/notesMaster" Target="/ppt/notesMasters/notesMaster1.xml" Id="R7c85e823520349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d1f530437f4041" /><Relationship Type="http://schemas.openxmlformats.org/officeDocument/2006/relationships/notesMaster" Target="/ppt/notesMasters/notesMaster1.xml" Id="R2724cf5e7d6242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927266c99a4389" /><Relationship Type="http://schemas.openxmlformats.org/officeDocument/2006/relationships/notesMaster" Target="/ppt/notesMasters/notesMaster1.xml" Id="Ra81c8737893c42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897ebbfd1f41bd" /><Relationship Type="http://schemas.openxmlformats.org/officeDocument/2006/relationships/notesMaster" Target="/ppt/notesMasters/notesMaster1.xml" Id="R31058ce683e244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726a3a59eb48ad" /><Relationship Type="http://schemas.openxmlformats.org/officeDocument/2006/relationships/notesMaster" Target="/ppt/notesMasters/notesMaster1.xml" Id="Rc586625f9eae42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2cf3f4eb274e31" /><Relationship Type="http://schemas.openxmlformats.org/officeDocument/2006/relationships/notesMaster" Target="/ppt/notesMasters/notesMaster1.xml" Id="Rda6e2dfe057749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ae2d15b1714f8b" /><Relationship Type="http://schemas.openxmlformats.org/officeDocument/2006/relationships/notesMaster" Target="/ppt/notesMasters/notesMaster1.xml" Id="R7566548dbfba4f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7caa77870845ae" /><Relationship Type="http://schemas.openxmlformats.org/officeDocument/2006/relationships/notesMaster" Target="/ppt/notesMasters/notesMaster1.xml" Id="Re582aa089a2b4d7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0e5dd8f2e342d2" /><Relationship Type="http://schemas.openxmlformats.org/officeDocument/2006/relationships/notesMaster" Target="/ppt/notesMasters/notesMaster1.xml" Id="Rffa95413d19d42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dc0f0507614d90" /><Relationship Type="http://schemas.openxmlformats.org/officeDocument/2006/relationships/notesMaster" Target="/ppt/notesMasters/notesMaster1.xml" Id="Red54f0dd5a4542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d4fb7365334e68" /><Relationship Type="http://schemas.openxmlformats.org/officeDocument/2006/relationships/notesMaster" Target="/ppt/notesMasters/notesMaster1.xml" Id="Reba60bd54ea846a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a466694ea094f81" /><Relationship Type="http://schemas.openxmlformats.org/officeDocument/2006/relationships/notesMaster" Target="/ppt/notesMasters/notesMaster1.xml" Id="Rf83f54309330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347b1c06c4d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91271ada7473e" /><Relationship Type="http://schemas.openxmlformats.org/officeDocument/2006/relationships/slideLayout" Target="/ppt/slideLayouts/slideLayout1.xml" Id="R88ee8becec4544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ee8becec45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d719d23b846cd" /><Relationship Type="http://schemas.openxmlformats.org/officeDocument/2006/relationships/image" Target="/ppt/media/image.png" Id="R360ccb9d51404eb4" /><Relationship Type="http://schemas.openxmlformats.org/officeDocument/2006/relationships/notesSlide" Target="/ppt/notesSlides/notesSlide1.xml" Id="Ref854782848a40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8644bbb3949ee" /><Relationship Type="http://schemas.openxmlformats.org/officeDocument/2006/relationships/notesSlide" Target="/ppt/notesSlides/notesSlide2.xml" Id="R5b80f8ddff584c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f785531f24818" /><Relationship Type="http://schemas.openxmlformats.org/officeDocument/2006/relationships/notesSlide" Target="/ppt/notesSlides/notesSlide3.xml" Id="R523e47553bd145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455eb5f2b44d1" /><Relationship Type="http://schemas.openxmlformats.org/officeDocument/2006/relationships/notesSlide" Target="/ppt/notesSlides/notesSlide4.xml" Id="Rcddb5e95ac1146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6ec0a2a8e4ce2" /><Relationship Type="http://schemas.openxmlformats.org/officeDocument/2006/relationships/notesSlide" Target="/ppt/notesSlides/notesSlide5.xml" Id="R26423497c2304a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886cb0b354dd5" /><Relationship Type="http://schemas.openxmlformats.org/officeDocument/2006/relationships/notesSlide" Target="/ppt/notesSlides/notesSlide6.xml" Id="R08021cccd54641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865819b7d4805" /><Relationship Type="http://schemas.openxmlformats.org/officeDocument/2006/relationships/notesSlide" Target="/ppt/notesSlides/notesSlide7.xml" Id="Ra53ed0c0d5494f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ee9b2e52c4271" /><Relationship Type="http://schemas.openxmlformats.org/officeDocument/2006/relationships/chart" Target="/ppt/slides/charts/chart1.xml" Id="R0cf66719a1804198" /><Relationship Type="http://schemas.openxmlformats.org/officeDocument/2006/relationships/notesSlide" Target="/ppt/notesSlides/notesSlide8.xml" Id="R901b51d28c0940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cf016a1f14c99" /><Relationship Type="http://schemas.openxmlformats.org/officeDocument/2006/relationships/chart" Target="/ppt/slides/charts/chart2.xml" Id="R57d2a32937b9476e" /><Relationship Type="http://schemas.openxmlformats.org/officeDocument/2006/relationships/notesSlide" Target="/ppt/notesSlides/notesSlide9.xml" Id="R0db99cc584a641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35b77bf6449ff" /><Relationship Type="http://schemas.openxmlformats.org/officeDocument/2006/relationships/image" Target="/ppt/media/image2.png" Id="R2848476aacf4472d" /><Relationship Type="http://schemas.openxmlformats.org/officeDocument/2006/relationships/notesSlide" Target="/ppt/notesSlides/notesSlide10.xml" Id="R3c16c12e964f45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09ddfd99f4a86" /><Relationship Type="http://schemas.openxmlformats.org/officeDocument/2006/relationships/image" Target="/ppt/media/image3.png" Id="R96432f4c48bd44f8" /><Relationship Type="http://schemas.openxmlformats.org/officeDocument/2006/relationships/notesSlide" Target="/ppt/notesSlides/notesSlide11.xml" Id="R18f255ff3a834d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c574871094289" /><Relationship Type="http://schemas.openxmlformats.org/officeDocument/2006/relationships/image" Target="/ppt/media/image4.png" Id="R69ed4ba0200f418b" /><Relationship Type="http://schemas.openxmlformats.org/officeDocument/2006/relationships/notesSlide" Target="/ppt/notesSlides/notesSlide12.xml" Id="R3f361ce444b446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e57120a484d05" /><Relationship Type="http://schemas.openxmlformats.org/officeDocument/2006/relationships/image" Target="/ppt/media/image5.png" Id="Re38bef3b41854328" /><Relationship Type="http://schemas.openxmlformats.org/officeDocument/2006/relationships/image" Target="/ppt/media/image6.png" Id="R7830c64f74fc4cc6" /><Relationship Type="http://schemas.openxmlformats.org/officeDocument/2006/relationships/notesSlide" Target="/ppt/notesSlides/notesSlide13.xml" Id="Rd834969c730044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cd8ab1df54b80" /><Relationship Type="http://schemas.openxmlformats.org/officeDocument/2006/relationships/image" Target="/ppt/media/image7.png" Id="Rc417ef01b2b74fc3" /><Relationship Type="http://schemas.openxmlformats.org/officeDocument/2006/relationships/image" Target="/ppt/media/image8.png" Id="Rc450ab31af084739" /><Relationship Type="http://schemas.openxmlformats.org/officeDocument/2006/relationships/notesSlide" Target="/ppt/notesSlides/notesSlide14.xml" Id="R92556759473c4a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186bc661147cd" /><Relationship Type="http://schemas.openxmlformats.org/officeDocument/2006/relationships/image" Target="/ppt/media/image9.png" Id="R594e4872052a4ffe" /><Relationship Type="http://schemas.openxmlformats.org/officeDocument/2006/relationships/notesSlide" Target="/ppt/notesSlides/notesSlide15.xml" Id="R0a1990dd99e242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6dcde226d4a82" /><Relationship Type="http://schemas.openxmlformats.org/officeDocument/2006/relationships/image" Target="/ppt/media/image10.png" Id="R1f32a69b43f14172" /><Relationship Type="http://schemas.openxmlformats.org/officeDocument/2006/relationships/image" Target="/ppt/media/image11.png" Id="R554e8a225953479e" /><Relationship Type="http://schemas.openxmlformats.org/officeDocument/2006/relationships/notesSlide" Target="/ppt/notesSlides/notesSlide16.xml" Id="R4613c9ca2b3d49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24dd825364a29" /><Relationship Type="http://schemas.openxmlformats.org/officeDocument/2006/relationships/image" Target="/ppt/media/image12.png" Id="Rba9f12d027f0446f" /><Relationship Type="http://schemas.openxmlformats.org/officeDocument/2006/relationships/image" Target="/ppt/media/image13.png" Id="R04988c945ec94dac" /><Relationship Type="http://schemas.openxmlformats.org/officeDocument/2006/relationships/image" Target="/ppt/media/image14.png" Id="Rb57e8d6bcbc54067" /><Relationship Type="http://schemas.openxmlformats.org/officeDocument/2006/relationships/notesSlide" Target="/ppt/notesSlides/notesSlide17.xml" Id="Rcbe49e67fa1941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63ae81ea3434e" /><Relationship Type="http://schemas.openxmlformats.org/officeDocument/2006/relationships/chart" Target="/ppt/slides/charts/chart3.xml" Id="R362703f82c2a4933" /><Relationship Type="http://schemas.openxmlformats.org/officeDocument/2006/relationships/chart" Target="/ppt/slides/charts/chart4.xml" Id="Rf23f241f20ee4d5e" /><Relationship Type="http://schemas.openxmlformats.org/officeDocument/2006/relationships/notesSlide" Target="/ppt/notesSlides/notesSlide18.xml" Id="Re62143b762ec48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594fc64d04970" /><Relationship Type="http://schemas.openxmlformats.org/officeDocument/2006/relationships/chart" Target="/ppt/slides/charts/chart5.xml" Id="R5de79a1711b74b1d" /><Relationship Type="http://schemas.openxmlformats.org/officeDocument/2006/relationships/chart" Target="/ppt/slides/charts/chart6.xml" Id="Ref317b3bd3144a1f" /><Relationship Type="http://schemas.openxmlformats.org/officeDocument/2006/relationships/notesSlide" Target="/ppt/notesSlides/notesSlide19.xml" Id="Rabad2aa5cf0d46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e1305e0d0483c" /><Relationship Type="http://schemas.openxmlformats.org/officeDocument/2006/relationships/chart" Target="/ppt/slides/charts/chart7.xml" Id="R7fbdfd2922844d65" /><Relationship Type="http://schemas.openxmlformats.org/officeDocument/2006/relationships/chart" Target="/ppt/slides/charts/chart8.xml" Id="R7a3f06edf74f437d" /><Relationship Type="http://schemas.openxmlformats.org/officeDocument/2006/relationships/notesSlide" Target="/ppt/notesSlides/notesSlide20.xml" Id="R6efe8f3aa2434e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be72cbeef4b0b" /><Relationship Type="http://schemas.openxmlformats.org/officeDocument/2006/relationships/notesSlide" Target="/ppt/notesSlides/notesSlide21.xml" Id="R513071ed0a2a435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9e91b12dc473a" /><Relationship Type="http://schemas.openxmlformats.org/officeDocument/2006/relationships/image" Target="/ppt/media/image15.png" Id="Rd28d63dd70d04fb2" /><Relationship Type="http://schemas.openxmlformats.org/officeDocument/2006/relationships/notesSlide" Target="/ppt/notesSlides/notesSlide22.xml" Id="R5269483da56940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cbd3f9cc14cb5" /><Relationship Type="http://schemas.openxmlformats.org/officeDocument/2006/relationships/notesSlide" Target="/ppt/notesSlides/notesSlide23.xml" Id="R2a0e615535b140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6751e6c3d431c" /><Relationship Type="http://schemas.openxmlformats.org/officeDocument/2006/relationships/notesSlide" Target="/ppt/notesSlides/notesSlide24.xml" Id="R7dd79bdc134548e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RMS</c:v>
          </c:tx>
          <c:spPr>
            <a:solidFill xmlns:a="http://schemas.openxmlformats.org/drawingml/2006/main">
              <a:srgbClr val="2F7ED8"/>
            </a:solidFill>
          </c:spPr>
          <c:cat>
            <c:strLit>
              <c:ptCount val="5"/>
              <c:pt idx="0">
                <c:v>B0 visible sum</c:v>
              </c:pt>
              <c:pt idx="1">
                <c:v>B1 ridge</c:v>
              </c:pt>
              <c:pt idx="2">
                <c:v>M2 direct ridge</c:v>
              </c:pt>
              <c:pt idx="3">
                <c:v>M1 focus only</c:v>
              </c:pt>
              <c:pt idx="4">
                <c:v>M1 full support</c:v>
              </c:pt>
            </c:strLit>
          </c:cat>
          <c:val>
            <c:numLit>
              <c:formatCode>General</c:formatCode>
              <c:ptCount val="5"/>
              <c:pt idx="0">
                <c:v>0.4511670594</c:v>
              </c:pt>
              <c:pt idx="1">
                <c:v>0.3647514684</c:v>
              </c:pt>
              <c:pt idx="2">
                <c:v>0.3032120881</c:v>
              </c:pt>
              <c:pt idx="3">
                <c:v>0.2038823904</c:v>
              </c:pt>
              <c:pt idx="4">
                <c:v>0.2207597099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0384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macro RMS relative four-vector error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RMS</c:v>
          </c:tx>
          <c:spPr>
            <a:solidFill xmlns:a="http://schemas.openxmlformats.org/drawingml/2006/main">
              <a:srgbClr val="D96C2F"/>
            </a:solidFill>
          </c:spPr>
          <c:cat>
            <c:strLit>
              <c:ptCount val="5"/>
              <c:pt idx="0">
                <c:v>B0 visible sum</c:v>
              </c:pt>
              <c:pt idx="1">
                <c:v>B1 ridge</c:v>
              </c:pt>
              <c:pt idx="2">
                <c:v>M2 direct ridge</c:v>
              </c:pt>
              <c:pt idx="3">
                <c:v>M1 focus only</c:v>
              </c:pt>
              <c:pt idx="4">
                <c:v>M1 full support</c:v>
              </c:pt>
            </c:strLit>
          </c:cat>
          <c:val>
            <c:numLit>
              <c:formatCode>General</c:formatCode>
              <c:ptCount val="5"/>
              <c:pt idx="0">
                <c:v>0.4511670594</c:v>
              </c:pt>
              <c:pt idx="1">
                <c:v>0.2931105852</c:v>
              </c:pt>
              <c:pt idx="2">
                <c:v>0.3032120881</c:v>
              </c:pt>
              <c:pt idx="3">
                <c:v>0.2151407356</c:v>
              </c:pt>
              <c:pt idx="4">
                <c:v>0.2188963806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0384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macro RMS relative four-vector error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log1p(K) target</c:v>
          </c:tx>
          <c:spPr>
            <a:solidFill xmlns:a="http://schemas.openxmlformats.org/drawingml/2006/main">
              <a:srgbClr val="2F7ED8"/>
            </a:solidFill>
          </c:spPr>
          <c:cat>
            <c:strLit>
              <c:ptCount val="4"/>
              <c:pt idx="0">
                <c:v>E</c:v>
              </c:pt>
              <c:pt idx="1">
                <c:v>px</c:v>
              </c:pt>
              <c:pt idx="2">
                <c:v>py</c:v>
              </c:pt>
              <c:pt idx="3">
                <c:v>pz</c:v>
              </c:pt>
            </c:strLit>
          </c:cat>
          <c:val>
            <c:numLit>
              <c:formatCode>General</c:formatCode>
              <c:ptCount val="4"/>
              <c:pt idx="0">
                <c:v>20.059149</c:v>
              </c:pt>
              <c:pt idx="1">
                <c:v>5.061534</c:v>
              </c:pt>
              <c:pt idx="2">
                <c:v>5.059353</c:v>
              </c:pt>
              <c:pt idx="3">
                <c:v>18.810678</c:v>
              </c:pt>
            </c:numLit>
          </c:val>
        </c:ser>
        <c:ser>
          <c:idx val="1"/>
          <c:order val="1"/>
          <c:tx>
            <c:v>direct K target</c:v>
          </c:tx>
          <c:spPr>
            <a:solidFill xmlns:a="http://schemas.openxmlformats.org/drawingml/2006/main">
              <a:srgbClr val="D96C2F"/>
            </a:solidFill>
          </c:spPr>
          <c:cat>
            <c:strLit>
              <c:ptCount val="4"/>
              <c:pt idx="0">
                <c:v>E</c:v>
              </c:pt>
              <c:pt idx="1">
                <c:v>px</c:v>
              </c:pt>
              <c:pt idx="2">
                <c:v>py</c:v>
              </c:pt>
              <c:pt idx="3">
                <c:v>pz</c:v>
              </c:pt>
            </c:strLit>
          </c:cat>
          <c:val>
            <c:numLit>
              <c:formatCode>General</c:formatCode>
              <c:ptCount val="4"/>
              <c:pt idx="0">
                <c:v>19.925959</c:v>
              </c:pt>
              <c:pt idx="1">
                <c:v>5.026194</c:v>
              </c:pt>
              <c:pt idx="2">
                <c:v>5.024141</c:v>
              </c:pt>
              <c:pt idx="3">
                <c:v>18.690058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0384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RMSE [GeV]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30384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log1p(K) target</c:v>
          </c:tx>
          <c:spPr>
            <a:solidFill xmlns:a="http://schemas.openxmlformats.org/drawingml/2006/main">
              <a:srgbClr val="2F7ED8"/>
            </a:solidFill>
          </c:spPr>
          <c:cat>
            <c:strLit>
              <c:ptCount val="4"/>
              <c:pt idx="0">
                <c:v>E</c:v>
              </c:pt>
              <c:pt idx="1">
                <c:v>px</c:v>
              </c:pt>
              <c:pt idx="2">
                <c:v>py</c:v>
              </c:pt>
              <c:pt idx="3">
                <c:v>pz</c:v>
              </c:pt>
            </c:strLit>
          </c:cat>
          <c:val>
            <c:numLit>
              <c:formatCode>General</c:formatCode>
              <c:ptCount val="4"/>
              <c:pt idx="0">
                <c:v>402.369455</c:v>
              </c:pt>
              <c:pt idx="1">
                <c:v>25.619128</c:v>
              </c:pt>
              <c:pt idx="2">
                <c:v>25.597048</c:v>
              </c:pt>
              <c:pt idx="3">
                <c:v>353.841597</c:v>
              </c:pt>
            </c:numLit>
          </c:val>
        </c:ser>
        <c:ser>
          <c:idx val="1"/>
          <c:order val="1"/>
          <c:tx>
            <c:v>direct K target</c:v>
          </c:tx>
          <c:spPr>
            <a:solidFill xmlns:a="http://schemas.openxmlformats.org/drawingml/2006/main">
              <a:srgbClr val="D96C2F"/>
            </a:solidFill>
          </c:spPr>
          <c:cat>
            <c:strLit>
              <c:ptCount val="4"/>
              <c:pt idx="0">
                <c:v>E</c:v>
              </c:pt>
              <c:pt idx="1">
                <c:v>px</c:v>
              </c:pt>
              <c:pt idx="2">
                <c:v>py</c:v>
              </c:pt>
              <c:pt idx="3">
                <c:v>pz</c:v>
              </c:pt>
            </c:strLit>
          </c:cat>
          <c:val>
            <c:numLit>
              <c:formatCode>General</c:formatCode>
              <c:ptCount val="4"/>
              <c:pt idx="0">
                <c:v>397.043857</c:v>
              </c:pt>
              <c:pt idx="1">
                <c:v>25.26263</c:v>
              </c:pt>
              <c:pt idx="2">
                <c:v>25.241993</c:v>
              </c:pt>
              <c:pt idx="3">
                <c:v>349.318286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MSE [GeV^2]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50112"/>
        <c:crossBetween val="between"/>
        <c:majorUnit val="7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30384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log1p(K) target</c:v>
          </c:tx>
          <c:spPr>
            <a:solidFill xmlns:a="http://schemas.openxmlformats.org/drawingml/2006/main">
              <a:srgbClr val="2F7ED8"/>
            </a:solidFill>
          </c:spPr>
          <c:cat>
            <c:strLit>
              <c:ptCount val="4"/>
              <c:pt idx="0">
                <c:v>E</c:v>
              </c:pt>
              <c:pt idx="1">
                <c:v>px</c:v>
              </c:pt>
              <c:pt idx="2">
                <c:v>py</c:v>
              </c:pt>
              <c:pt idx="3">
                <c:v>pz</c:v>
              </c:pt>
            </c:strLit>
          </c:cat>
          <c:val>
            <c:numLit>
              <c:formatCode>0.00</c:formatCode>
              <c:ptCount val="4"/>
              <c:pt idx="0">
                <c:v>0.15435182</c:v>
              </c:pt>
              <c:pt idx="1">
                <c:v>0.03891181</c:v>
              </c:pt>
              <c:pt idx="2">
                <c:v>0.03911034</c:v>
              </c:pt>
              <c:pt idx="3">
                <c:v>0.14467544</c:v>
              </c:pt>
            </c:numLit>
          </c:val>
        </c:ser>
        <c:ser>
          <c:idx val="1"/>
          <c:order val="1"/>
          <c:tx>
            <c:v>direct K target</c:v>
          </c:tx>
          <c:spPr>
            <a:solidFill xmlns:a="http://schemas.openxmlformats.org/drawingml/2006/main">
              <a:srgbClr val="D96C2F"/>
            </a:solidFill>
          </c:spPr>
          <c:cat>
            <c:strLit>
              <c:ptCount val="4"/>
              <c:pt idx="0">
                <c:v>E</c:v>
              </c:pt>
              <c:pt idx="1">
                <c:v>px</c:v>
              </c:pt>
              <c:pt idx="2">
                <c:v>py</c:v>
              </c:pt>
              <c:pt idx="3">
                <c:v>pz</c:v>
              </c:pt>
            </c:strLit>
          </c:cat>
          <c:val>
            <c:numLit>
              <c:formatCode>0.00</c:formatCode>
              <c:ptCount val="4"/>
              <c:pt idx="0">
                <c:v>0.16470349</c:v>
              </c:pt>
              <c:pt idx="1">
                <c:v>0.04168491</c:v>
              </c:pt>
              <c:pt idx="2">
                <c:v>0.04213511</c:v>
              </c:pt>
              <c:pt idx="3">
                <c:v>0.15417736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0384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1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RMSE</a:t>
                </a:r>
              </a:p>
            </c:rich>
          </c:tx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50112"/>
        <c:crossBetween val="between"/>
        <c:majorUnit val="0.03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30384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log1p(K) target</c:v>
          </c:tx>
          <c:spPr>
            <a:solidFill xmlns:a="http://schemas.openxmlformats.org/drawingml/2006/main">
              <a:srgbClr val="2F7ED8"/>
            </a:solidFill>
          </c:spPr>
          <c:cat>
            <c:strLit>
              <c:ptCount val="4"/>
              <c:pt idx="0">
                <c:v>E</c:v>
              </c:pt>
              <c:pt idx="1">
                <c:v>px</c:v>
              </c:pt>
              <c:pt idx="2">
                <c:v>py</c:v>
              </c:pt>
              <c:pt idx="3">
                <c:v>pz</c:v>
              </c:pt>
            </c:strLit>
          </c:cat>
          <c:val>
            <c:numLit>
              <c:formatCode>0%</c:formatCode>
              <c:ptCount val="4"/>
              <c:pt idx="0">
                <c:v>0.75126763</c:v>
              </c:pt>
              <c:pt idx="1">
                <c:v>0.96880734</c:v>
              </c:pt>
              <c:pt idx="2">
                <c:v>0.9668541</c:v>
              </c:pt>
              <c:pt idx="3">
                <c:v>0.96219789</c:v>
              </c:pt>
            </c:numLit>
          </c:val>
        </c:ser>
        <c:ser>
          <c:idx val="1"/>
          <c:order val="1"/>
          <c:tx>
            <c:v>direct K target</c:v>
          </c:tx>
          <c:spPr>
            <a:solidFill xmlns:a="http://schemas.openxmlformats.org/drawingml/2006/main">
              <a:srgbClr val="D96C2F"/>
            </a:solidFill>
          </c:spPr>
          <c:cat>
            <c:strLit>
              <c:ptCount val="4"/>
              <c:pt idx="0">
                <c:v>E</c:v>
              </c:pt>
              <c:pt idx="1">
                <c:v>px</c:v>
              </c:pt>
              <c:pt idx="2">
                <c:v>py</c:v>
              </c:pt>
              <c:pt idx="3">
                <c:v>pz</c:v>
              </c:pt>
            </c:strLit>
          </c:cat>
          <c:val>
            <c:numLit>
              <c:formatCode>0%</c:formatCode>
              <c:ptCount val="4"/>
              <c:pt idx="0">
                <c:v>0.75996843</c:v>
              </c:pt>
              <c:pt idx="1">
                <c:v>0.96746572</c:v>
              </c:pt>
              <c:pt idx="2">
                <c:v>0.96513761</c:v>
              </c:pt>
              <c:pt idx="3">
                <c:v>0.9702255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0384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fraction within 10% of E_true</a:t>
                </a:r>
              </a:p>
            </c:rich>
          </c:tx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30384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log1p(K) target</c:v>
          </c:tx>
          <c:spPr>
            <a:ln xmlns:a="http://schemas.openxmlformats.org/drawingml/2006/main" w="28575">
              <a:solidFill>
                <a:srgbClr val="2F7ED8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8"/>
              <c:pt idx="0">
                <c:v>50-75</c:v>
              </c:pt>
              <c:pt idx="1">
                <c:v>75-100</c:v>
              </c:pt>
              <c:pt idx="2">
                <c:v>100-125</c:v>
              </c:pt>
              <c:pt idx="3">
                <c:v>125-150</c:v>
              </c:pt>
              <c:pt idx="4">
                <c:v>150-175</c:v>
              </c:pt>
              <c:pt idx="5">
                <c:v>175-200</c:v>
              </c:pt>
              <c:pt idx="6">
                <c:v>200-225</c:v>
              </c:pt>
              <c:pt idx="7">
                <c:v>225-250</c:v>
              </c:pt>
            </c:strLit>
          </c:cat>
          <c:val>
            <c:numLit>
              <c:formatCode>0.00</c:formatCode>
              <c:ptCount val="8"/>
              <c:pt idx="0">
                <c:v>1.1575852532169169</c:v>
              </c:pt>
              <c:pt idx="1">
                <c:v>1.0756461834361875</c:v>
              </c:pt>
              <c:pt idx="2">
                <c:v>1.0396548858634995</c:v>
              </c:pt>
              <c:pt idx="3">
                <c:v>1.020741878067726</c:v>
              </c:pt>
              <c:pt idx="4">
                <c:v>1.003225899806371</c:v>
              </c:pt>
              <c:pt idx="5">
                <c:v>0.9868725150756201</c:v>
              </c:pt>
              <c:pt idx="6">
                <c:v>0.9674015666492746</c:v>
              </c:pt>
              <c:pt idx="7">
                <c:v>0.9405138115286532</c:v>
              </c:pt>
            </c:numLit>
          </c:val>
        </c:ser>
        <c:ser>
          <c:idx val="1"/>
          <c:order val="1"/>
          <c:tx>
            <c:v>direct K target</c:v>
          </c:tx>
          <c:spPr>
            <a:ln xmlns:a="http://schemas.openxmlformats.org/drawingml/2006/main" w="28575">
              <a:solidFill>
                <a:srgbClr val="D96C2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8"/>
              <c:pt idx="0">
                <c:v>50-75</c:v>
              </c:pt>
              <c:pt idx="1">
                <c:v>75-100</c:v>
              </c:pt>
              <c:pt idx="2">
                <c:v>100-125</c:v>
              </c:pt>
              <c:pt idx="3">
                <c:v>125-150</c:v>
              </c:pt>
              <c:pt idx="4">
                <c:v>150-175</c:v>
              </c:pt>
              <c:pt idx="5">
                <c:v>175-200</c:v>
              </c:pt>
              <c:pt idx="6">
                <c:v>200-225</c:v>
              </c:pt>
              <c:pt idx="7">
                <c:v>225-250</c:v>
              </c:pt>
            </c:strLit>
          </c:cat>
          <c:val>
            <c:numLit>
              <c:formatCode>0.00</c:formatCode>
              <c:ptCount val="8"/>
              <c:pt idx="0">
                <c:v>1.156416439345731</c:v>
              </c:pt>
              <c:pt idx="1">
                <c:v>1.0738854044446062</c:v>
              </c:pt>
              <c:pt idx="2">
                <c:v>1.0395942184493587</c:v>
              </c:pt>
              <c:pt idx="3">
                <c:v>1.0201605468606836</c:v>
              </c:pt>
              <c:pt idx="4">
                <c:v>1.0040440149430219</c:v>
              </c:pt>
              <c:pt idx="5">
                <c:v>0.9872381473206644</c:v>
              </c:pt>
              <c:pt idx="6">
                <c:v>0.9681044055664518</c:v>
              </c:pt>
              <c:pt idx="7">
                <c:v>0.9410206943960514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.2"/>
          <c:min val="0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mean E_hat / E_true</a:t>
                </a:r>
              </a:p>
            </c:rich>
          </c:tx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30384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log1p(K) target</c:v>
          </c:tx>
          <c:spPr>
            <a:ln xmlns:a="http://schemas.openxmlformats.org/drawingml/2006/main" w="28575">
              <a:solidFill>
                <a:srgbClr val="2F7ED8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8"/>
              <c:pt idx="0">
                <c:v>50-75</c:v>
              </c:pt>
              <c:pt idx="1">
                <c:v>75-100</c:v>
              </c:pt>
              <c:pt idx="2">
                <c:v>100-125</c:v>
              </c:pt>
              <c:pt idx="3">
                <c:v>125-150</c:v>
              </c:pt>
              <c:pt idx="4">
                <c:v>150-175</c:v>
              </c:pt>
              <c:pt idx="5">
                <c:v>175-200</c:v>
              </c:pt>
              <c:pt idx="6">
                <c:v>200-225</c:v>
              </c:pt>
              <c:pt idx="7">
                <c:v>225-250</c:v>
              </c:pt>
            </c:strLit>
          </c:cat>
          <c:val>
            <c:numLit>
              <c:formatCode>0.00</c:formatCode>
              <c:ptCount val="8"/>
              <c:pt idx="0">
                <c:v>0.28441536257469135</c:v>
              </c:pt>
              <c:pt idx="1">
                <c:v>0.1642639577908018</c:v>
              </c:pt>
              <c:pt idx="2">
                <c:v>0.12701637512562733</c:v>
              </c:pt>
              <c:pt idx="3">
                <c:v>0.1156388135507815</c:v>
              </c:pt>
              <c:pt idx="4">
                <c:v>0.11064331921017134</c:v>
              </c:pt>
              <c:pt idx="5">
                <c:v>0.10954951130144734</c:v>
              </c:pt>
              <c:pt idx="6">
                <c:v>0.11679346117696074</c:v>
              </c:pt>
              <c:pt idx="7">
                <c:v>0.12615389358629242</c:v>
              </c:pt>
            </c:numLit>
          </c:val>
        </c:ser>
        <c:ser>
          <c:idx val="1"/>
          <c:order val="1"/>
          <c:tx>
            <c:v>direct K target</c:v>
          </c:tx>
          <c:spPr>
            <a:ln xmlns:a="http://schemas.openxmlformats.org/drawingml/2006/main" w="28575">
              <a:solidFill>
                <a:srgbClr val="D96C2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8"/>
              <c:pt idx="0">
                <c:v>50-75</c:v>
              </c:pt>
              <c:pt idx="1">
                <c:v>75-100</c:v>
              </c:pt>
              <c:pt idx="2">
                <c:v>100-125</c:v>
              </c:pt>
              <c:pt idx="3">
                <c:v>125-150</c:v>
              </c:pt>
              <c:pt idx="4">
                <c:v>150-175</c:v>
              </c:pt>
              <c:pt idx="5">
                <c:v>175-200</c:v>
              </c:pt>
              <c:pt idx="6">
                <c:v>200-225</c:v>
              </c:pt>
              <c:pt idx="7">
                <c:v>225-250</c:v>
              </c:pt>
            </c:strLit>
          </c:cat>
          <c:val>
            <c:numLit>
              <c:formatCode>0.00</c:formatCode>
              <c:ptCount val="8"/>
              <c:pt idx="0">
                <c:v>0.3218256734462343</c:v>
              </c:pt>
              <c:pt idx="1">
                <c:v>0.18483512638771177</c:v>
              </c:pt>
              <c:pt idx="2">
                <c:v>0.13343511099575672</c:v>
              </c:pt>
              <c:pt idx="3">
                <c:v>0.11407343761649702</c:v>
              </c:pt>
              <c:pt idx="4">
                <c:v>0.1067637690205219</c:v>
              </c:pt>
              <c:pt idx="5">
                <c:v>0.10407601337877254</c:v>
              </c:pt>
              <c:pt idx="6">
                <c:v>0.11043626368209646</c:v>
              </c:pt>
              <c:pt idx="7">
                <c:v>0.12181315415935917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36"/>
          <c:min val="0.0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9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relative energy RMSE</a:t>
                </a:r>
              </a:p>
            </c:rich>
          </c:tx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03841"/>
                </a:solidFill>
              </a:defRPr>
            </a:pPr>
          </a:p>
        </c:txPr>
        <c:crossAx val="48650112"/>
        <c:crossBetween val="between"/>
        <c:majorUnit val="0.0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30384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71B4D1-C629-4B85-AD16-FDF1DE50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BDC38-E494-465E-ABC3-EED9BD88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BC491-0C03-48FE-9DFD-194D3E8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ASIoP ZDC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C8777-A08C-4FDB-8C71-08030CD8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All-model</a:t>
            </a:r>
          </a:p>
          <a:p xmlns:a="http://schemas.openxmlformats.org/drawingml/2006/main">
            <a:pPr algn="l">
              <a:defRPr sz="4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HEP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47F38-64BD-417A-83E6-2730BFDB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Archived ML ZDC all results, ML ZDC all 1 results, historical Vertex runs, and the direct-kinetic-MSE retrain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A1E4B-5AD2-4A17-BDA7-F969B6C7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Simulation study: single-neutron ZDC reconstruction of (E, px, py, pz)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0367C-D3D4-49D7-9F8C-7E3AB60A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Focus range: 50-250 GeV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5640E-0012-4CCB-ABA4-1AD9F827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Sources: ML ZDC all archive + ML ZDC all 1 Vertex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572F0-A831-4A52-9BFC-32FE0F52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ccb9d51404eb4"/>
          <a:srcRect xmlns:a="http://schemas.openxmlformats.org/drawingml/2006/main" l="9173" t="0" r="9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0"/>
            <a:ext cx="6762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108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4D011B-E2F8-4FB6-BB38-8097DEB2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STUDY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13228-E13E-48E4-BD0E-4F87CBE4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two folders are linked by a shared finalfix2 artifact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48549-33B4-4712-BD3D-E89214F0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AC7E5-0C12-42C8-A01E-5858535C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277A0-CA43-4119-925C-A610382F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16816-23F4-4B60-BCBC-77A841A0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686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B2096-9C43-4659-A335-B9258247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ML ZDC 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A1DA5-3D8E-4E11-B3F7-A6D2886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14550"/>
            <a:ext cx="2457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Archived presentation bundle: finalfix2 model, plots, loss curves, pencil-beam comparison.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879D4-5379-4ACC-8109-D5BCF318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C6163-C4D0-4F79-AB29-90F8FB06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666875"/>
            <a:ext cx="2686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7C574-940D-4D19-A2F0-2D159B82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907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ML ZDC all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657C3-7AC8-44FD-BD10-07465A07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14550"/>
            <a:ext cx="2457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Source, locked data contract, expanded diagnostics, historical Vertex run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8DD82-BEB4-4201-82EE-D5F26EEE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174C1-B3C8-491D-8262-9680775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66875"/>
            <a:ext cx="2686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FAC4B-C3CD-4486-B99F-346B3376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907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finalfix2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C100E-8152-4B8A-9F43-A8B453CE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14550"/>
            <a:ext cx="2457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The same accepted M1 XGBoost focus-only model appears in both folders.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EB958-90D8-40BE-B9AC-D8C198F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2C417-07E3-4A52-A2F4-D29FBCE7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2686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941CA-642D-4811-AC91-B9AC69DB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7907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raw-K retrain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60E17-FC8F-4C21-A82B-EFB20590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14550"/>
            <a:ext cx="2457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New Vertex output in ML ZDC all 1: direct kinetic-energy target, same event IDs.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F5478-8D92-4636-9B03-1CDC01F8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476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DF4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76195-CF98-42A5-B879-69C458EC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14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Deck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A5F1C-CCC7-4899-AA29-42559F24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71975"/>
            <a:ext cx="4191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The shared finalfix2 artifact is displayed once. Historical runs are labeled by run ID. The direct-K retrain is shown as a separate target-parameterization result.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91536-A8EF-4EC1-B452-4A473326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476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6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AC379C-9D5E-46A9-8576-95917AC1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14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included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7DC78-583F-4ED5-8C37-D1651627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71975"/>
            <a:ext cx="4191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Trained models with saved results: B0, B1, M2, log-target M1 focus/full support, direct-K M1 focus/full support, and the archived run-level variants. Pencil-beam is labeled as a different energy-only task.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C7AA1-2143-4248-AE1C-79F728DC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24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The N1 dual-grid network, H1 blend, and G1 Deep Sets/GNN appear in the design record but have no saved model output or performance metric in the supplied artifacts.</a:t>
            </a:r>
          </a:p>
        </p:txBody>
      </p:sp>
    </p:spTree>
    <p:extLst>
      <p:ext uri="{BB962C8B-B14F-4D97-AF65-F5344CB8AC3E}">
        <p14:creationId xmlns:p14="http://schemas.microsoft.com/office/powerpoint/2010/main" val="11977066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2FECE-EDA0-445C-9977-49E45E37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EVENT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07115-7410-4568-991F-14A080B4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Common data, split, and scoring range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A443C-8F84-40AD-9928-B1917FA8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15A55-E710-477B-945A-E3CB29EF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D8F4B-0385-46FB-8137-9AE8908D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CD139-0935-49DD-AF4A-C1BD4376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18DF2-73A9-4C33-AE7E-53DD1A4F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07A03-FCAB-4094-89D4-B9FA82A2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621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764,940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4E86D-5F5F-4D04-9EA4-24E5858F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526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events in myTree;865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B764A-BA12-448A-B158-6B9DECC5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4A7F8-8F9E-4771-A2C1-5F63F221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3C9F3-8DA8-41BD-A7AA-FFE23BD4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621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80/10/10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0790D-E1DB-4D33-8EBF-C26D0884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526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train / validation / locked test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B18CF-6107-40DD-8C3E-F072736D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71625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88684-E719-498E-95E4-6FF39779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7162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49B09-ECE6-40F8-8DCD-56B778F8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621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50-250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888D9-C8B4-4D9B-8269-56160CAA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1526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headline generator-energy range, GeV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275DF-134D-4DA3-BEC0-AD24C979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BF638-770F-4DB4-A4BD-4CC72B9D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45CB8-7455-45A5-BE53-F3FBE882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7621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50,685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002AC-2902-4724-A95B-0B13817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1526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focus-test 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8C482-C585-4FF8-A791-001030E5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ECCA4-2B69-4D42-A1E9-C9BA9F23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432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11DC0-3E63-4F52-A5B8-DD6EF1E1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95625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D9B27-4567-48D8-B8B9-7ABE3473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43250"/>
            <a:ext cx="807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Recorded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DCE41F-172A-43A2-A54F-1F9796A7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528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7B4BFD-DB39-4493-B1CE-9758FACD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004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Particle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33046-8E0B-48EA-8AAB-51DEBCA5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52825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F5BF0F-7945-485D-BE51-B698944E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600450"/>
            <a:ext cx="807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Exactly one neutron per selected event, PDG 2112.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BF3DF0-9AB7-4417-8AE1-431904CC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516F37-679B-4A79-8810-11314EF5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576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Detector inputs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F5153F-E591-4B36-94F7-7D7AB02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10025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E9E9F7-ABAA-4FE1-8584-74F41DC7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057650"/>
            <a:ext cx="807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Jagged ECAL/HCAL hit positions and deposited signals; position scale 0.1 to cm; signal scale 1.0 GeV.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6DB289-6E98-42C5-AE60-D7525ED7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4DF561-3352-46D8-A0C4-4EF79A37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148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Truth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A028A9-5CAF-41DD-B1D9-CCC697F5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67225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BF7ADB-8758-482E-817D-9632D847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514850"/>
            <a:ext cx="807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mcPar_energy and mcPar_momX/Y/Z create E, px, py, pz targets. Truth is not an inference feature.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7D2199-3AB0-4118-AA38-4321F038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5B4B11-EFBE-4F54-B9CD-2E244B21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720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D1FE49-A1F7-4828-8BA2-55CB3A8A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924425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197166-366A-4581-AA7B-338664C7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972050"/>
            <a:ext cx="807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195 archived scalar detector features: totals, hit counts, shower centroid/RMS, depth, axis/PCA, leakage and quality flags.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45A70C-5C93-4154-9242-7E9868A4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9A7215-1E9A-43D9-B210-24E342F5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292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6E3436-F511-460D-8FCD-012BA6C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81625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6C3896-8B96-4C37-8C3F-D8E7E0F0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429250"/>
            <a:ext cx="807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Macro RMS relative four-vector error on locked 50-250 GeV test rows; component metrics use final calibrated physical GeV outputs.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F41282-11C9-4AD8-99A6-68FCC585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101917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14405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5372B-D388-477F-8A9F-8B6A8E0B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PHYSICS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84015-60E7-403F-B8A9-17BEE2A2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Common on-shell neutron reconstruction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F1344-83E2-4683-A7E4-C964FD34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43D83-2651-46E7-BE23-94C5821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594CE-5384-40F7-A78D-278946E5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1E1B5-D637-4669-8D90-87E30328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19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6BEC0-7248-4E86-A82B-F12617F5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43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ECAL + HCAL hits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C4CCE-AC0A-47C2-B00E-D430270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66925"/>
            <a:ext cx="1581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positions and deposited energies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06F6E-267D-46A1-84FA-7F7D9851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859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A1B35-9667-4837-B75F-02A2A8C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619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1A551-56C3-4ABD-AFD5-9F52C1ED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743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Feature builder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D8A00-148B-4065-800A-D80A2887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066925"/>
            <a:ext cx="1581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fixed-length detector-only scalar vector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7D1B9-A63E-48AE-AC98-5BFC4561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859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6B293-9D8E-4C3C-A97A-BE2C8DE3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19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96A1E-B3F6-4634-8739-04F0D96D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43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Model heads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91F52-FC01-4B13-9FCD-F4CEEE95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66925"/>
            <a:ext cx="1581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energy head plus direction heads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D4B91-A053-4F95-8247-AFB5B10D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859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E76C9-6B83-4910-BE39-15A1D630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19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C7489-30AF-4034-B9F9-4825E012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Direction unit vector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23231-E308-4A92-B09B-DA66CEE1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66925"/>
            <a:ext cx="1581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u_hat = v_hat / ||v_hat||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B0CDE-52D1-4009-8166-6616BE41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859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DD603-036C-42C5-825F-8E878BF5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19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2BFD7-0A3F-441E-B2CC-48EB665D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43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On-shell projection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22355-4A52-4387-8228-EDBC1B1B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66925"/>
            <a:ext cx="1581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E_hat = K_hat + m_n; |p_hat| = sqrt(K_hat(K_hat+2m_n))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9FC43-8430-431C-9433-408D32A8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859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D04EB-3761-4C8E-965F-3A032508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619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DD3482-B4FC-4A88-B905-2C876217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7430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Four-vector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6844D9-63F8-4FAC-80E3-70018412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066925"/>
            <a:ext cx="1581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(E_hat, px_hat, py_hat, pz_hat)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9DC2B-96C1-4034-8E10-2F199D22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2571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BBEBC-6BD7-417A-B533-88E9C2EB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1475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AB3980-824C-41DF-91BF-2BAA9E00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67125"/>
            <a:ext cx="7620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8A9486-0420-4AFF-B8E7-2D6E82B9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14750"/>
            <a:ext cx="750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Expression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784937-A9A5-493B-964E-E6B73245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71950"/>
            <a:ext cx="2571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5686E7-AE7B-4038-8392-94D9E3D7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19575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Neutron mass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DB06AE-E6A4-4321-B249-2A9A75F6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71950"/>
            <a:ext cx="7620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00E121-DC74-44CD-9492-0084EBB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219575"/>
            <a:ext cx="750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m_n = 0.93956542052 GeV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68B093-E7B9-4A63-AD5D-F3F3A804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76775"/>
            <a:ext cx="2571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A79AE2-4D45-4CAF-8C43-C93F03A3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2440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Momentum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C4A09C-5195-4782-8F01-26ECB831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76775"/>
            <a:ext cx="7620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357955-2260-447D-9FA1-4DAE9D7A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724400"/>
            <a:ext cx="750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p_hat = |p_hat| u_hat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C302E6-CFD4-4020-8197-50F6080F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81600"/>
            <a:ext cx="2571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B7828A-CBCA-41C3-94D1-85F53A7E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229225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Shell check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9B3DB7-6D47-415C-8C72-AFF4D953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81600"/>
            <a:ext cx="7620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CCF86C-60F0-4EE7-9322-B9365B29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229225"/>
            <a:ext cx="750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E_hat^2 - px_hat^2 - py_hat^2 - pz_hat^2 - m_n^2 = 0 up to floating-point precision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5671C3-92FE-4D05-82A5-B3CE82D8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10191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2DDD17-77BD-4E9C-A4DF-D283698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647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6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B6EC4B-CFAD-4BF9-9314-3718F217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29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Reported numerical 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983F9B-4A05-4AF7-9A37-93F837AA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0864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The finalfix2 focus-test maximum mass-shell residual is 3.277e-11 GeV^2. The raw-K retrain value is 2.550e-11 GeV^2.</a:t>
            </a:r>
          </a:p>
        </p:txBody>
      </p:sp>
    </p:spTree>
    <p:extLst>
      <p:ext uri="{BB962C8B-B14F-4D97-AF65-F5344CB8AC3E}">
        <p14:creationId xmlns:p14="http://schemas.microsoft.com/office/powerpoint/2010/main" val="14215560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B23F1A-FB1B-4E38-B6A1-98B651B7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MODEL FAMILIES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2A28A-0849-4207-AAE8-600E43F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Trained candidates in the archived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0222E-E4F3-4093-9E6E-8BA14E64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3CA2F-7FCA-4579-925C-CCAE9CC1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67F69-E26A-4CC8-970D-2C4C98C2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8B4C8-3CC5-4F8D-A1FE-24116F3F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00175"/>
            <a:ext cx="85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5DDE2-B8F7-4848-986C-614A75F7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478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3FBED-F251-47F7-8E01-0D27421E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00175"/>
            <a:ext cx="2476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54021-9825-4FEB-B7B9-6EAFD907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7800"/>
            <a:ext cx="236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43B52-4575-47AC-AB7E-4406CD3F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00175"/>
            <a:ext cx="2571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C7F23-5514-4E49-91FB-F434A969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447800"/>
            <a:ext cx="2457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CF24A-44C3-47A7-A6A5-F67F30F5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00175"/>
            <a:ext cx="3429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136E5-F1CA-481F-B7F6-3B395192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47800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Direction /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05299-70F5-4FC6-B584-E4673AF9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00175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1DD15-42F2-43D9-9EF5-5191673E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478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1217B-BF11-42DB-B04B-EABD6B24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00250"/>
            <a:ext cx="85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CFFE0-0DDF-4480-804E-5A3A3812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4787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06EA87-525C-4851-B9B4-D3664870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2476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E70D1-6A9D-4ABE-91A0-5979EB2F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47875"/>
            <a:ext cx="236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Visible-sum + axis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FC9F9-0945-477F-8086-EABB1E3A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571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39A5D-233E-4C6E-949C-B1A20F75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2457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positive linear ECAL+HCAL visible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2F9CE-3BA7-42FC-8808-6C1174E3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3429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3E75E-5B8F-4646-A1A9-B5A5EA93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analytic shower axis; on-shell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34414-7873-4127-8E0C-0CAE5CA9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264F0-1909-4523-91FD-846A053E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47875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validation and test artifacts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E6529E-3B7A-4E3F-AD26-9A233580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00325"/>
            <a:ext cx="85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C631F-6CF2-4625-B55C-F2E1157A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4795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A711EF-194E-448E-84E2-4170103A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0325"/>
            <a:ext cx="2476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105965-CC91-4C64-901D-5125C9C9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236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Ridge constrained baseline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30FF71-58F2-443C-BD90-E661CEF4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0325"/>
            <a:ext cx="2571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D97536-23CD-4931-BE2E-94DA5FCF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457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regularized linear scalar-feature head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1CD99C-EC7F-4AC6-9386-4894B23E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0325"/>
            <a:ext cx="3429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03479C-BD59-49A8-9BAC-11E67987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three unit-direction components; on-shell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53DB87-1259-4F52-A482-23FF3C0A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0325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558E89-A61F-4A29-B47E-51C8BD31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4795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validation and historical-champion artifacts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4CCB2B-7B57-4AF9-9433-E2C3E254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85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857627-173D-4FE3-B8FE-445C58CE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4802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F214DA-15EE-43C3-81CE-81B04940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0400"/>
            <a:ext cx="2476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220A4A-2708-4DCA-AA5C-81091BD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8025"/>
            <a:ext cx="236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Ridge direct four-vector diagnostic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1B4E84-F376-44B7-8DC6-E1F59E50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00400"/>
            <a:ext cx="2571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74B0BC-B65D-4DE1-AFC3-D09298FA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48025"/>
            <a:ext cx="2457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four direct linear outputs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546C7A-85E9-4F9C-B749-415B2FAE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3429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531520-F941-4731-ACEF-6864AD97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48025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direction from predicted p; projected on shell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2AE863-FA43-463C-A294-F06AF575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0400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67AC52-CB62-44C3-9117-33C3615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48025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diagnostic validation artifact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39997B-7272-4A7F-9F94-F4FE2955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00475"/>
            <a:ext cx="85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C390AA-201B-4470-8E51-C8238040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481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 log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F96633-4489-4132-A8D5-C51FCDB1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00475"/>
            <a:ext cx="2476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09F88A-7842-4719-8C1D-011D197C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236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XGBoost focus-only / full-support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7511C2-2BA7-4FC5-9174-12AA8783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00475"/>
            <a:ext cx="2571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6748BE-7C09-43AD-871C-035F563A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2457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log1p(K)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EE6739-C492-429B-AC3D-6C62D60E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00475"/>
            <a:ext cx="3429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27D8CE-E442-4763-808B-E8F96F13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ux, uy, uz tree heads; calibrated on shell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3DC064-B0A3-45D6-8013-7EA44BBC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00475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B35939-6141-40CF-9227-230E9F58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4810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finalfix2 archived results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388851-9F71-43DB-AADC-A16121AD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00550"/>
            <a:ext cx="85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86DC5C-835C-45A2-B61C-AED2BA60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4817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 raw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F53BE1-E38B-4D14-B69F-18EEF70C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2476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E2A4BA-4075-4450-A558-B08BAEB5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8175"/>
            <a:ext cx="236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XGBoost focus-only / full-support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F1B5F4-C939-4D82-86BF-E3CDD16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2571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F76EB6-255C-4010-94D5-4C770B50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48175"/>
            <a:ext cx="2457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K in GeV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F8E02E5-0C86-425F-AD50-82C891D0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3429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6FC73B-4BBC-474D-8F01-AD1B6B02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48175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ux, uy, uz tree heads; calibrated on shell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91C5F1-F193-4E26-BCAA-D4EA31B8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00550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24C988-87E4-46DE-AAC0-6A1FCC82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48175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raw-kinetic-MSE Vertex result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917318-FC0B-487D-91F4-7E9BBA74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00625"/>
            <a:ext cx="857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EF8936-257B-44B8-9172-3E00A514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04825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N1 / H1 / G1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AC7F35-1D8D-4CAF-838E-CEFE3C14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00625"/>
            <a:ext cx="2476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750B98-1AB0-4467-B394-7DD1143F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48250"/>
            <a:ext cx="236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dual-grid network / blend / GNN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C91100-9E33-4B4D-BC21-D3DC4A9B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00625"/>
            <a:ext cx="2571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6C40D5-E486-4AAE-8C8F-E83D14D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48250"/>
            <a:ext cx="2457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design record only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523F224-D652-4594-8285-2562A681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00625"/>
            <a:ext cx="3429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819101-F342-4C74-B5E0-B1193EF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no trained artifact or metric in supplied folders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601A54-D3EB-4035-AD7A-EEC1A535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00625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72F786-2ED9-4AB4-977C-B53F858B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48250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not measured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885816-199E-4E46-9861-2A4353EE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00175"/>
            <a:ext cx="11525250" cy="420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90731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9A55F6-160E-473F-BA84-82A7FD5D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XGBOOST VARIANTS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8CDDA-0E43-4661-A2D5-6D387491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Measured M1 target and support variants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DCC2C-7581-4C88-ABD0-308DD04D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F4EB2-CFAA-427F-BD3B-0FB7482F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2EEA3-AA30-4E3A-B0B4-2D1EA190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665D0-1145-436B-B9C0-C57105A4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4288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40B75-E261-46CB-8BC8-BB00A895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24000"/>
            <a:ext cx="2314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BABBF-2FE3-4513-8E10-7577C68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76375"/>
            <a:ext cx="26193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CE39E-51C5-4EE7-9C9B-11C2D687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24000"/>
            <a:ext cx="2505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target used by XGBoost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AC579-190A-45A8-BF0A-D0CE7798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76375"/>
            <a:ext cx="2286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2FAE4-1BB0-4FA8-A799-43530EDE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524000"/>
            <a:ext cx="2171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9F74B-63DA-40C2-B915-DEBBCA71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2381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092CF-462C-4E82-93F8-CCF8AC72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524000"/>
            <a:ext cx="2266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weighting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B0D02-ED7D-4E54-9C03-B95980D1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476375"/>
            <a:ext cx="1714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64165-AE2A-4CBB-875E-CDB14C65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524000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Direction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FB4E7-1590-4511-B726-0B992802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24288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20354-85D8-4F0D-985B-8EAB77F3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85975"/>
            <a:ext cx="2314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 log focus-only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881C5-70F6-44C6-AE76-6826E877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26193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2B636-8372-41E4-849A-E9B6205A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85975"/>
            <a:ext cx="2505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log1p(K)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2CFCE-BEAF-44B5-AF55-9E27F1AC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38350"/>
            <a:ext cx="2286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09B49-13CF-4006-9E7E-99933A4C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085975"/>
            <a:ext cx="2171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50-250 GeV focus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FBFD4-7E57-42AD-9D5E-02B846C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38350"/>
            <a:ext cx="2381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D567B-3BD8-48CA-889A-98B753E1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85975"/>
            <a:ext cx="2266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focus bins balanced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9DFCC-E566-4CC0-8939-887812D5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038350"/>
            <a:ext cx="1714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808B4-3DC3-456E-ADC8-800DDA8F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085975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ux, uy, uz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BFDB3-F2D2-4C63-8E24-DA3FD06A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0325"/>
            <a:ext cx="24288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502BA6-9BEA-4D9C-9B64-567C01E1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47950"/>
            <a:ext cx="2314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 log full-support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C14197-63D9-41B9-9EB7-F3281B62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0325"/>
            <a:ext cx="26193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035399-A028-4035-9228-CCA2928C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47950"/>
            <a:ext cx="2505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log1p(K)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122E0A-BC28-4E1A-AAC1-BC840753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00325"/>
            <a:ext cx="2286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3413EF-E84C-49E4-BE03-9B63E090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47950"/>
            <a:ext cx="2171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0-300 GeV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6C1A3-2FA2-4D33-BAE9-130A696A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00325"/>
            <a:ext cx="2381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63C00-F41D-44F0-9AAF-839AB4F1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47950"/>
            <a:ext cx="2266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shoulder events weighted 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B3975C-4DA9-4A52-925C-EEFD99DD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00325"/>
            <a:ext cx="1714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97F4AA-3B47-4CA5-BF8A-EBFBBB4B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647950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ux, uy, uz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433C4-0CC3-43FD-9DA1-A4F779C6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62300"/>
            <a:ext cx="24288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F5CB86-6749-4F67-A951-EF23504C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09925"/>
            <a:ext cx="2314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 raw focus-only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33CCE1-DCE7-4F8B-9996-ECC6955D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2300"/>
            <a:ext cx="26193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E938DF-97AE-477A-B592-DEFD48F4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09925"/>
            <a:ext cx="2505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K [GeV]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E55D85-D853-4249-9BED-01372567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62300"/>
            <a:ext cx="2286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409608-9D86-493B-ABEA-4E6D0C59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09925"/>
            <a:ext cx="2171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50-250 GeV focus 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E76801-B2A3-4150-9973-01949063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62300"/>
            <a:ext cx="2381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AD4B0D-79A6-46B9-BACB-1CBF31F2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09925"/>
            <a:ext cx="2266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focus bins balanced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71AFAA-A4DA-41AF-9BCB-F830274A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62300"/>
            <a:ext cx="1714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F0A25E-67B3-4BA5-9F68-BDE8D2B4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209925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ux, uy, uz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003F1B-5433-4934-B291-610D43DF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24275"/>
            <a:ext cx="24288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5D5E49-9184-421F-8BDE-093EA7D2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71900"/>
            <a:ext cx="2314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 raw full-support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91970F-05D1-47A1-B6A1-F1C0F565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24275"/>
            <a:ext cx="26193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C6562F-EDD9-44E8-8A85-65DE2A67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71900"/>
            <a:ext cx="25050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K [GeV]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76C0D7-F5B0-4980-8EDE-9F2FACB1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24275"/>
            <a:ext cx="2286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F56FAA-3AC9-4E3B-B334-28D8D478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771900"/>
            <a:ext cx="2171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0-300 GeV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812480-8B38-4C61-9E1A-E04FB318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24275"/>
            <a:ext cx="2381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16AEC8-01BF-462E-ABCD-6B8E53A7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771900"/>
            <a:ext cx="2266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shoulder events weighted 0.25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A876CB-81B0-4EAE-ACF1-828184C7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4275"/>
            <a:ext cx="1714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27D737-9DA4-4663-8122-272EE7C2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771900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ux, uy, uz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F8DB06-0B3C-4853-A937-FB3FB983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1430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09B871-FE83-4D62-ADA5-D9B2E411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DF4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EDC655-E4FE-478B-B029-DD6D0E31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Squared-error training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0E8DAD-167E-470A-B03E-AC06CF89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816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Each XGBoost head uses reg:squarederror. The log-target energy loss is squared error in log1p(K); the raw-target energy loss is squared error in K [GeV].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EEAAC3-EA84-4FC0-9F03-10189D59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0125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2BF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98CDC7-51B1-44C5-98A1-25C8038B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24425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Shared postprocessing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3C5F20-2975-4B0D-9618-68B461D8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816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Both target choices normalize the direction and rebuild an on-shell four-vector. Locked-test component metrics are evaluated after this reconstruction and energy calibration.</a:t>
            </a:r>
          </a:p>
        </p:txBody>
      </p:sp>
    </p:spTree>
    <p:extLst>
      <p:ext uri="{BB962C8B-B14F-4D97-AF65-F5344CB8AC3E}">
        <p14:creationId xmlns:p14="http://schemas.microsoft.com/office/powerpoint/2010/main" val="719225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F571D-48D2-4709-B63B-CF74697A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MODEL OPERATION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0D838-16E1-4146-9911-D2E7B199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Four scalar heads before physics reconstruction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C0977-0228-48E7-9B19-0E6E22FA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5DC2F-5887-41D5-8E4A-5D03F361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FDD9-E9C1-4D83-A501-6E6D3C39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891C4-3009-426F-9EAE-46623289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7859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02628-4F87-4691-9E67-6B0B433D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38325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68F94-F1BB-4524-8EE5-E9D57A7E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62175"/>
            <a:ext cx="1557338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195 engineered hit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CCE0A-FCEB-4858-BCA5-ACD1A0F0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2181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FD300-3CF0-405A-B981-03DB5674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338" y="1714500"/>
            <a:ext cx="17859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D9B7A-60DD-4F31-94B4-AE76A3BA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1838325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f_E(x)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F68AF-5835-4379-BC8D-00FBFA40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638" y="2162175"/>
            <a:ext cx="1557338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energy head: log1p(K) or 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CD7B6-58F7-4948-8723-C108AAEB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181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CFD4C-976D-4DBF-B000-4A469CA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17859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9EBE4-ED13-467C-8B41-4E300627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38325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f_x/y/z(x)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4B957-B494-4C25-B301-D38946D2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62175"/>
            <a:ext cx="1557338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three direction-component heads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83D6F-297D-415F-BE52-369DD2A2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2181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B6733-0307-4667-BB45-DC2A62FC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1714500"/>
            <a:ext cx="17859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A8D24-98DF-4691-8AD3-E38535E5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1838325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K_hat, v_hat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451F7-6A29-4F40-B00E-CCDCEC7F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3" y="2162175"/>
            <a:ext cx="1557338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decode energy; stack direction components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A9EEA-21B7-44CF-8D3C-97526867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81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7DAD9-4DFF-4C88-A397-E3F81A5A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17859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B8ED0-70F8-41E3-AA02-34154F17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38325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u_hat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EF66A-3C7C-4DF5-BCBD-DECD7765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62175"/>
            <a:ext cx="1557338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normalize direction vector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87CD5-9611-4F8D-9E42-A62ABA82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138" y="2181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9EE23E-75E7-4B45-B913-E2B0A1E0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1714500"/>
            <a:ext cx="17859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DE33A-6D9D-47C0-BB92-6DB0FD6B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738" y="1838325"/>
            <a:ext cx="15954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p_hat^mu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F94EF-AA94-4781-B19A-2415E069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162175"/>
            <a:ext cx="1557338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rebuild (E, px, py, pz) on shell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E31B32-8775-4170-93ED-879F31B8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2F32EF-0BA4-44A5-AB2F-EF5C8300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62375"/>
            <a:ext cx="3028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2DB415-5CBC-4E3D-B4DF-8FA94399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6858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3467AB-6258-4A6C-BBC9-E6981B54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62375"/>
            <a:ext cx="6743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167E55-0DC0-4952-9AF5-40CA913A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9BC876-3C5F-4637-91D9-DEC26CE7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29100"/>
            <a:ext cx="3028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log target decode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ABA280-A13B-4061-AEFF-E243FD50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81475"/>
            <a:ext cx="6858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BB048E-7645-4FD4-AED4-2D202B3F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6743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K_hat = max(expm1(f_E(x)), 0)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C2D40F-B171-4062-8D9A-7F47BE8D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060DE5-38D9-4428-B5D4-C23C0D14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3028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raw target decode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5B8C3-A4E4-4B4F-9335-59EDB9BF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6858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26EFBC-B172-4826-A2C0-2798A34E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95825"/>
            <a:ext cx="6743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K_hat = max(f_E(x), 0)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B4594C-D1AC-46E1-A3BB-7C91EDB3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14925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A29159-FC5A-454F-880C-B3F418E6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62550"/>
            <a:ext cx="3028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C1AC97-C005-4194-AF8D-76197CCB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14925"/>
            <a:ext cx="6858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04A677-F684-4D30-8FA8-ED0F6A2C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62550"/>
            <a:ext cx="6743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u_hat = v_hat / ||v_hat||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F0E7B1-6388-486C-A9A4-B9211C57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E7147F-3929-4C76-BBC9-8BDFA2F0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29275"/>
            <a:ext cx="3028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energy and momentum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F81F91-0828-4F93-8F9E-03688D07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81650"/>
            <a:ext cx="6858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EB3161-7235-4F6C-94B2-EAB383A5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29275"/>
            <a:ext cx="6743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E_hat = K_hat + m_n; p_hat = sqrt(K_hat(K_hat + 2m_n)) u_hat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415D1D-3AFC-4D2B-B850-8CCFF55F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0001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04070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0190E4-7A10-4A3C-82D3-CA36EC37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LOG-TARGET CANDIDATES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8E2EC-4B8D-4261-B595-10326D22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Validation macro RMS relative four-vector error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3CC76-EDE6-4A2F-BAE5-2F8AE32F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Same 50-250 GeV validation focus events; archived finalfix2 candidate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C43D2-6450-499A-8BF7-5588FEEA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05F80-4155-446B-A6D3-F36C2399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66802-31DB-4C03-A319-33C3E1CB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f66719a180419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E3E0A-EC20-4982-8AA8-27BF38A0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9BCF3-786F-4637-B7AC-DABD99AA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621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0BAA7-CD30-4E63-BB32-BA348D67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145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49C67-5166-4793-914D-B0715BF3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7621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rel. 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ADD25-75BE-446E-A05D-ABAA28C6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145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CAECA-B9D0-4423-BFB3-73736D4A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7621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MAE [GeV]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1171A-BCD9-4CC6-A7B8-E0D0E7CC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6B736-3D90-4890-99EF-5BF270DF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193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B0_visible_sum_axis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EFFF5-AE78-4465-8309-404CCA76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717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FDD10-79F0-4EF7-B59C-0D5CEAF3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193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0.2509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09D80-D6B3-4F2F-AA6D-2747C9B9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717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1CC17-5769-46B4-A0E5-E4B92A4B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2193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24.75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F7AC6-7907-4136-88F1-EDB45DDE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28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F0950-955D-4FF6-93F7-FF9442BC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765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B1_ridge_constrained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FE2D0-075E-49DC-AA2B-6CB725A1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28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626F0-5424-45E0-8490-93BBFA59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765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0.2700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AE856-6EF1-4D3E-9E3C-82F9A531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28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26AA2-9418-43F1-A5DE-83B842B4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765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19.95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017066-32A6-4370-81B6-3ACB1301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C9E12B-908A-45AC-BC05-74A40999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337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M2_ridge_direct_projected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59BB5-6ED1-4309-AA9E-F57DB8E7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861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34DEC2-428A-478D-A073-1A43709D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1337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0.2146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7906D5-8707-4BBA-8E73-7466ED47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861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8D7903-E79A-4B5D-B784-C8EA5CBB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337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17.26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03A11F-6521-4F23-9741-B389EC55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7D0DC2-B09E-4F93-9604-3F0A2091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909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M1_xgb_focus_only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CEF9D1-25E2-4B4C-8BA2-43A4AAB1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433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1DAB57-CD24-439F-8462-026B9BE5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5909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0.1515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C42E7-3EA5-4F67-B0DE-5CC72CCB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433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B8524B-B5D1-4910-A1DA-3D2262D4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909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11.28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0A21C6-E373-4857-9C41-F812E327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C46BCB-30FA-4951-96F0-0F95C212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481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M1_xgb_full_support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980436-FF11-49D9-9BE9-7A6B0AED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005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E49A5B-A104-4FD2-86B7-D5391B04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481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0.1584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8711A7-F61E-4FFE-85B3-91F84930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3C99BC-A9AC-4A06-BC29-D7E5793D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481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12.27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FB5D1F-F2EF-4267-AD46-B374158C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42386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A98DE0-253C-41B4-8E43-354EF997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M2 is a direct-four-vector diagnostic and is marked non-deployable in the archived validation table.</a:t>
            </a:r>
          </a:p>
        </p:txBody>
      </p:sp>
    </p:spTree>
    <p:extLst>
      <p:ext uri="{BB962C8B-B14F-4D97-AF65-F5344CB8AC3E}">
        <p14:creationId xmlns:p14="http://schemas.microsoft.com/office/powerpoint/2010/main" val="7042220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B4164-81CB-4096-B346-6EAA62CD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DIRECT-K CANDIDATES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F19E9-34DC-4326-A00E-34B06C50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Validation macro RMS relative four-vector error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40448-AA6D-4873-AC99-8A470AF8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Same 50-250 GeV validation focus events; raw-kinetic-MSE Vertex candidate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21004-0C24-4D45-AF54-B35730C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105BF-24D2-4169-A181-AE8537D8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79C5A-D98F-4599-99CF-FCD9E021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d2a32937b9476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4961D-B075-41AC-AA62-2807176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D0DD1-7D31-4EFB-9BE4-06160512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621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03405-DBCC-4ECC-9BA9-8A8A937D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145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DD4F9-D104-4257-92AC-E5861003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7621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rel. 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EA2B7-552A-4EFE-8320-AD0F6398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145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5CF0E-E174-46BF-8D53-298F1969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7621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MAE [GeV]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8E8E5-1EE2-4675-A105-AF979D6D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36CDB-B451-42E7-9119-D8BEA63D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193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B0_visible_sum_axis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3CE8E-0044-47C0-8BDE-FBC9CA70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717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B58E3-861E-4F21-A278-30101178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193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0.2509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8631A-EBF8-45CA-A9B3-5CCA4994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717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C6328-796E-4D88-91DA-14729252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2193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24.75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595A9-468B-4940-9EAC-03D2EB5C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28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8FFD1-B36F-4B0D-872F-86E68AB5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765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B1_ridge_constrained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2A5BE-22F4-4527-862D-BF3FDA82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28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B29D7-580D-4121-B189-AB08827D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765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0.2144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44AEB-408E-4685-ACBD-3D929DA9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289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B4181-74EB-43D8-88A8-E21F8C71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765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17.97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4F7125-BE2E-4928-AD54-F0438445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7AF301-1D4F-4E57-82F2-5B2B5CB9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337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M2_ridge_direct_projected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FFD511-65C0-45CA-B58B-A95C374F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861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9C115F-C5BA-4C5A-AE71-3201B8D1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1337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0.2146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2EF737-3F52-4619-A232-75F92FBB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861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245282-99F9-4DDE-9D41-DD6CD127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337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17.26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186DC2-E2A4-4315-B401-4C74E1E2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39B1A-74B4-43E9-B8BC-B5CDB7B8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909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M1_xgb_focus_only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1CB37C-BDD1-4028-9F45-C2DA9080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433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449386-E588-4397-B55F-5F4D0B7D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5909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0.1662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6FD6C2-2F50-4867-A7FE-6131C89F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433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BCADB3-913C-4C05-9D60-301ECB2F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909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11.49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80B047-1FA0-4660-BE6D-9C4A1690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3026BB-E486-4D54-84D6-541D405A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481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M1_xgb_full_support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3C8E9D-7D3B-49C9-A2F1-BC955390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005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BCFFA5-F877-42E9-80D9-337FE265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481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0.1629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60F37D-109A-4D9D-B591-A17E8352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659AF8-DAE1-4231-A632-CB3E7B17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48125"/>
            <a:ext cx="1171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1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11.86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07205C-4647-48F1-B3EF-5951AFEB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42386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84226A-E6FD-4331-BE39-7E5BD764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The raw-target XGBoost model file is stored as kinetic_energy.json; the log-target model file is stored as log1p_kinetic.json.</a:t>
            </a:r>
          </a:p>
        </p:txBody>
      </p:sp>
    </p:spTree>
    <p:extLst>
      <p:ext uri="{BB962C8B-B14F-4D97-AF65-F5344CB8AC3E}">
        <p14:creationId xmlns:p14="http://schemas.microsoft.com/office/powerpoint/2010/main" val="15018175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956BB2-C978-4017-AA48-35CCBAAB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VERTEX RUN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7CCDF-CDF2-4740-95EF-CF42AD4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Saved focus-test metrics across base, finalfix, and finalfix2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B689A-2D03-47D8-88C6-6E2AB2AA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E9959-D4EA-4C7E-8D4E-47A42307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EFBD4-591C-4310-95B3-C548915A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8F66E-B2DF-4230-A572-2642894B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114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C33DD-F13B-4DD3-9F4C-B57A25B5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5737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8AC46-A096-4D40-A8A1-422FD3C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1285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75CEF-C11D-4D9E-9500-D760299F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57375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Champion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D5C49-04D6-48FD-A1FE-ADFBD350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809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8F993-58C4-4847-94B1-2826B6E5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57375"/>
            <a:ext cx="695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 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B375C-6C93-47E0-91A2-F85A8203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904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19ACD-A835-495C-A288-588CC574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57375"/>
            <a:ext cx="790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MAE GeV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3C1CC-78C1-44FA-9496-52E75A28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809750"/>
            <a:ext cx="1095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CB9D2-E92B-4051-BDFD-484C7A3E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1857375"/>
            <a:ext cx="981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Angular 68 mrad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FEF64-CB7B-439F-8188-1ADD87E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114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C20CA-FDAD-4C60-8950-BE0C3DE7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base full-cpu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32BA6-70DD-4C5F-8769-F713B104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1285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67EAD-6322-4B99-8462-95DEAE79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B1_ridge_constrained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5FDF5-F1A4-4DD4-8DC3-93A41F85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809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0D89E-AA9D-466D-B058-1F14FDF4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81250"/>
            <a:ext cx="695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0.8754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CEF9A-200A-4E50-8FDF-500C7377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904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4B5F1-B265-4B56-85A1-8CF007C1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81250"/>
            <a:ext cx="790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102.41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7033B-DF18-4BD3-AE9D-07AA3524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333625"/>
            <a:ext cx="1095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CB0F0-93A5-40CA-9481-4216866B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381250"/>
            <a:ext cx="981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39.46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071D4-4D6F-4F23-AF97-80804DB9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114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55953A-3B7F-46A5-8AC8-9545A249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0512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finalfix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CC2A9-B935-43A4-9F3E-20A5739A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285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B8F1A-5188-4384-B561-C9C424EB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05125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B1_ridge_constrained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2E0EEC-1346-434F-A9BA-85856326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809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54A4E3-6C86-450F-8C78-7B763FB5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05125"/>
            <a:ext cx="695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0.3277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C0241-2793-4A0F-8AF6-BE7D0F74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904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D582AD-1A33-4822-A023-0DFADA79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790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22.62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17A912-1CEA-44BF-A4DE-2D14D2DD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0"/>
            <a:ext cx="1095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1A07E5-1561-4D5A-9574-76A7DBE7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905125"/>
            <a:ext cx="981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39.46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9565D2-F320-4FD3-A958-EE048ECB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114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1676F0-FF06-4CB9-818A-1F49C66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finalfix2 accepted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BA1ADE-3CBA-40C0-BE53-8437555B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1285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B36084-0F4F-481E-8CFB-7A04545E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29000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M1_xgb_focus_only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9CB66D-CF94-45F1-9B7D-F596167A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81375"/>
            <a:ext cx="809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5B7026-532A-4386-B016-59A88754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29000"/>
            <a:ext cx="695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0.2044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AA25B4-30D8-418A-8041-5B39BA68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81375"/>
            <a:ext cx="904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3D02FB-0453-4C5B-87FC-26A09681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29000"/>
            <a:ext cx="790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11.48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18BAE4-8743-4F93-8C72-735F7467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381375"/>
            <a:ext cx="1095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1DFFB2-D914-4F3B-AF6D-D88FFFAE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429000"/>
            <a:ext cx="9810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6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7.98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B84FA6-9140-45F5-9CCA-088809EF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E3EE5C-B681-4DFF-A083-2F475AF1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428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DF4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A80F1C-AF59-4C85-ADDC-96670680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815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Run labels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6277AA-667F-4E46-ACAC-B1B96273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387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base full-cpu and finalfix selected B1 ridge constrained. finalfix2 selected M1 XGBoost focus-only. All values are archived locked focus-test metrics.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8476aacf4472d"/>
          <a:stretch xmlns:a="http://schemas.openxmlformats.org/drawingml/2006/main"/>
        </p:blipFill>
        <p:spPr>
          <a:xfrm xmlns:a="http://schemas.openxmlformats.org/drawingml/2006/main">
            <a:off x="428625" y="1745269"/>
            <a:ext cx="5905500" cy="33674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1279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BC27D-70CA-4061-B70D-580F9971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ACCEPTED LOG-TARGET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9EFDF-07ED-48C0-8CFA-1591B71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Finalfix2 predicted-versus-true component densities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8B899-E02A-4B11-9D3F-CD3F10F8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7BB92-719B-46D1-B71D-FD540CCA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6F1DC-44DD-4C4D-820B-F76EEEB2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4B4DF-39A8-4EA2-AA26-A8124298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43625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Final calibrated physical components on the locked focus test. The red line is the identity reference in each panel.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32f4c48bd44f8"/>
          <a:stretch xmlns:a="http://schemas.openxmlformats.org/drawingml/2006/main"/>
        </p:blipFill>
        <p:spPr>
          <a:xfrm xmlns:a="http://schemas.openxmlformats.org/drawingml/2006/main">
            <a:off x="3177544" y="1381125"/>
            <a:ext cx="5694036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987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A49C8-5106-4F37-929B-0474B07D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ACCEPTED LOG-TARGET RESIDUALS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F3DCD-8B56-4504-98E9-AA0BB1E5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Energy and longitudinal residuals occupy wider GeV ranges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D593B-CA6E-45C6-99BE-72B21EEA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0ED78-C42B-43FE-9E52-CB507F67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45984-E178-48F1-999C-C83B5FB4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A7C37-0D55-482B-8915-D46758B7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F6A38-D947-49F0-BAD1-43ABD0B8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09750"/>
            <a:ext cx="1076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C062A-D8F8-4C19-B012-0FF657E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90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38367-A57F-491C-A4DD-274523E9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79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 [GeV]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B126F-C0AD-42D8-9D55-17A3AFA2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90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2E221-F626-4A44-BCB3-AE1EB70D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809750"/>
            <a:ext cx="79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RMSE [GeV]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A7AD9-3816-45F2-B222-4C3D194C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4DC10-1961-458F-82D3-61DDF811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09750"/>
            <a:ext cx="50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7465B-8B7B-4492-B6DC-630E2B14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7621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184B0-8BD0-4614-BC5A-8E589DD5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80975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p95 abs. error [GeV]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65865-0F00-4D30-A662-A5A4E5D0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19325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6EF00-4800-4020-BD25-ADD7107B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66950"/>
            <a:ext cx="1076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40098-7C6F-48FA-B1FC-E2ABAF3E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19325"/>
            <a:ext cx="90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CEAC4-906A-44C5-82BD-AF159C50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79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11.48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A4416-52E0-4E3A-BF4C-93C7120E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19325"/>
            <a:ext cx="90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751EC-5CAA-40F4-A280-CFC5A065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66950"/>
            <a:ext cx="79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20.06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B59C2-F8B7-4190-898E-DA6F19DF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1932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747AF-B0F2-4F10-96EB-F8F2A959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66950"/>
            <a:ext cx="50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0.879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B0A0F-A9C3-446D-B769-36956343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193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99EB1-5A80-466C-843D-2099D49E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26695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42.86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01EC3-15ED-4AA9-B4F7-61758C38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76525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8428C6-B8A6-4B44-B5AB-224543A9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724150"/>
            <a:ext cx="1076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82A6DA-BDB1-4586-9F57-B3029DEC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76525"/>
            <a:ext cx="90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CCE41-2F24-45C8-87F8-DF207BF8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79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2.37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5F04C6-2B33-4767-85E3-68ECC129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76525"/>
            <a:ext cx="90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FF79A1-CD08-4224-A9F8-24536186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24150"/>
            <a:ext cx="79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5.06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99BA40-2325-4CC6-B514-B69158F4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7652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661F51-B5BA-4BD4-A919-DC3784A3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24150"/>
            <a:ext cx="50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0.968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0EDE73-5296-472F-BA2D-3C7112C4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765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7BBF0-69AA-41AE-9669-1E84E636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72415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9.85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820247-8E0A-4EB9-9328-AADC718F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33725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59E175-ECF7-47B7-861D-B5820DCD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81350"/>
            <a:ext cx="1076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E784E0-2F97-4922-9201-17AC5B24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33725"/>
            <a:ext cx="90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7F87BA-7406-4FD5-A285-B3C95DD2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81350"/>
            <a:ext cx="79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2.38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D9888F-4CD5-4F5D-92BA-8C88860D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33725"/>
            <a:ext cx="90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7FD4BC-82BB-4028-A03E-F33471AA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81350"/>
            <a:ext cx="79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5.06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81B7E1-2C26-4D39-8D63-A962D3A6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3372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4E003D-03FE-4FB6-A5BD-8243FC1B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81350"/>
            <a:ext cx="50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0.967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DE4F07-6E21-442C-ACD6-E82EB534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1337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9CBCFF-E8A4-47E3-8173-1FDE26A6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18135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10.11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78E4E6-843B-467B-8A4A-F30C3FFF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90925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B84A02-1FE4-475B-9696-7DBA2291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38550"/>
            <a:ext cx="1076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pz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1940B6-3449-426D-BFB8-6F28F05C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90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1F61A2-4EC1-429E-9AE8-DA88F8D1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79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10.89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605C08-FAF8-4FB7-8532-90FC6CE8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90925"/>
            <a:ext cx="90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BE6FE6-0DF7-4355-A3A2-E299577B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38550"/>
            <a:ext cx="79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18.81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4DF61F-9639-433E-B02B-F6928AD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9092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495903-E8F2-4016-A486-DC093072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38550"/>
            <a:ext cx="50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0.887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AA4EDC-90DD-452C-9B30-10A5BD30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5909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A0C705-8526-428D-A504-24D3D8AE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63855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95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40.24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F57BBF-32F7-4DFB-B90C-EED5B38D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660DBF-26A5-44DF-A5F4-08FE6D3E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24375"/>
            <a:ext cx="428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DF4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C231F3-6EA2-4DCB-98F7-522BD2B7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38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37FA58-2B46-476B-9A5E-5FE0ED07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95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These are final calibrated physical GeV residuals: component prediction minus component truth. No log-energy values are used in this table.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d4ba0200f418b"/>
          <a:stretch xmlns:a="http://schemas.openxmlformats.org/drawingml/2006/main"/>
        </p:blipFill>
        <p:spPr>
          <a:xfrm xmlns:a="http://schemas.openxmlformats.org/drawingml/2006/main">
            <a:off x="821741" y="1381125"/>
            <a:ext cx="5881268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600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35DE03-E8A7-4B98-8FFD-91625F2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SLICE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9F525-78BA-44E2-AFEB-2CF53F2A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Focus-bin energy and component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A03C8-6D06-4F26-9637-BD5CC1F2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5D3ED-FA3B-4F8E-B4E8-1FE0D159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30CCF-C4EC-4359-9231-D2703393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B4BD6-8668-4077-B50E-DDEF3410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Focus-bin edges: 50, 75, 100, 125, 150, 175, 200, 225, 250 GeV. Macro scoring averages the bin-level RMS values.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bef3b41854328"/>
          <a:stretch xmlns:a="http://schemas.openxmlformats.org/drawingml/2006/main"/>
        </p:blipFill>
        <p:spPr>
          <a:xfrm xmlns:a="http://schemas.openxmlformats.org/drawingml/2006/main">
            <a:off x="523875" y="2209143"/>
            <a:ext cx="5334000" cy="196346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0c64f74fc4cc6"/>
          <a:stretch xmlns:a="http://schemas.openxmlformats.org/drawingml/2006/main"/>
        </p:blipFill>
        <p:spPr>
          <a:xfrm xmlns:a="http://schemas.openxmlformats.org/drawingml/2006/main">
            <a:off x="6334125" y="2241423"/>
            <a:ext cx="5334000" cy="18989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142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BA9D9-DA9B-4FA2-A0CB-210B104C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DIRECTION AND SHELL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315A3-4EFF-48FD-8F87-575D6949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Angular residuals and mass-shell closure are separate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2B56D-C3BE-422D-B379-C245CE4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BA0A4-AEA3-477B-BAE6-DFDBC26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506C2-9546-4AD9-A985-3A01E79D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11011-F060-49AD-A2A7-55DFA9E4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1B0B2-5826-401C-A220-802CF7C8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3AA90-13E8-484A-8B76-1A3DCBB8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768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C9A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C9A62"/>
                </a:solidFill>
                <a:latin typeface="Arial"/>
                <a:ea typeface="Arial"/>
                <a:cs typeface="Arial"/>
              </a:rPr>
              <a:t>5.87 mrad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4EE9D-6CB3-4F94-86B1-FF6DA697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867400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accepted median angular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A6BCB-EBC2-43B2-888A-06FD7BC1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86375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A1388-AEAD-40E5-B484-63EF1268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8637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7BE71-C160-4B32-8C6D-AFB9B23B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768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6C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6C2F"/>
                </a:solidFill>
                <a:latin typeface="Arial"/>
                <a:ea typeface="Arial"/>
                <a:cs typeface="Arial"/>
              </a:rPr>
              <a:t>16.62 mrad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9ECDA-14F9-4F51-9E00-61F6C963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67400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accepted angular 95%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3115E-7FD9-41B9-95A7-A223A0DD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863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0BBB8-2A14-42EB-8B50-E3107B5D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863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AD02D-3F14-4310-B17B-C488F137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47687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C9A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C9A62"/>
                </a:solidFill>
                <a:latin typeface="Arial"/>
                <a:ea typeface="Arial"/>
                <a:cs typeface="Arial"/>
              </a:rPr>
              <a:t>3.28e-11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A75BD-1E1C-494E-81D2-293D7E70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867400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accepted max shell residual, GeV^2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7ef01b2b74fc3"/>
          <a:stretch xmlns:a="http://schemas.openxmlformats.org/drawingml/2006/main"/>
        </p:blipFill>
        <p:spPr>
          <a:xfrm xmlns:a="http://schemas.openxmlformats.org/drawingml/2006/main">
            <a:off x="523875" y="2194515"/>
            <a:ext cx="5286375" cy="1945094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0ab31af084739"/>
          <a:stretch xmlns:a="http://schemas.openxmlformats.org/drawingml/2006/main"/>
        </p:blipFill>
        <p:spPr>
          <a:xfrm xmlns:a="http://schemas.openxmlformats.org/drawingml/2006/main">
            <a:off x="6572250" y="2110809"/>
            <a:ext cx="4762500" cy="21125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321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DB0A6D-BC80-4E40-BE3E-7F0A5F12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BOOSTING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7153B-6273-4C88-B793-19FB4739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Boosting loss versus rounds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A3043-4202-4C58-91CB-17CC5351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Overall relative four-vector RMS diagnostic from the archived Vertex loss-curve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128D5-F8B4-4FF9-8689-C01DBD5F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DBF9E-8600-4C0F-848B-A893644A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B4034-EA62-43A4-AB79-0BF436CC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91581-29DE-4AC1-A135-A664A00B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1666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A4738-BC77-48C4-A7E5-60118179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762125"/>
            <a:ext cx="1552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E8399-59CF-4F18-ACE3-D2233757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CB513-1145-4E97-A9E7-DE42A285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62125"/>
            <a:ext cx="1076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 validation round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22DE9-8B05-4083-A6FE-600B87D9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1450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493E6-892A-47FD-8627-C370C43F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76212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1FC70-568A-49E7-8FD5-ABDE6704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1143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8DCB8-9FBC-4DF1-92ED-9229567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762125"/>
            <a:ext cx="1028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 RMSE at that round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1D87A-E1DB-4D4E-ADFE-906E0894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81225"/>
            <a:ext cx="1666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338A2-C054-45CB-870C-06C2A100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28850"/>
            <a:ext cx="1552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overall relative four-vector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61760-DB14-48A4-9B0B-0FAA481C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8122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D162C-DD94-43EC-B2AE-EFAE885E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1076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735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F9627-359E-4E57-B5E7-044511F9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812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97C9B-A44A-428F-9962-D54E9A71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2885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0.2143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E073C-6EBE-4AB4-8443-5769D1A7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81225"/>
            <a:ext cx="1143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F8FA2-5595-4CBD-B7F2-2B52344F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228850"/>
            <a:ext cx="1028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0.1908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6CABC-3942-4A12-A23F-21798320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47950"/>
            <a:ext cx="1666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3AC85-87F1-47F8-AED9-7AB494D8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95575"/>
            <a:ext cx="1552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 [GeV]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B72912-D80B-4E02-AD28-60D57E59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5FA0C-43CF-4F56-AB88-B9508999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95575"/>
            <a:ext cx="1076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51A3CB-792A-4D1F-9591-BB97E79B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26B696-66DC-443B-A674-F86DD457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9557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20.408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6D0772-BCA4-4CF2-9EEF-C1854C33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47950"/>
            <a:ext cx="1143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D529D-2D62-475D-89B1-BEF8F6F2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695575"/>
            <a:ext cx="1028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17.719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72E4A1-CC1D-4703-AAE4-11E98573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14675"/>
            <a:ext cx="1666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B3227F-E852-43E6-966F-E1E9AC0F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62300"/>
            <a:ext cx="1552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px [GeV]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9939FA-5E6A-43B6-AE3D-30981A3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1467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AE0D26-9DD6-48EC-A546-68C445B2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1076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2499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BF797F-CFCB-487F-8D54-BDAC034A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1467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C4B7C1-8A04-445D-9C2A-F7A0EF68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6230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5.178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37761D-C279-4A9B-91D8-0E0E55C9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114675"/>
            <a:ext cx="1143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652C06-BD4A-4EBF-8CD8-E806A53F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162300"/>
            <a:ext cx="1028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5.987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DAF68F-8055-4A5B-9120-94CABB8C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81400"/>
            <a:ext cx="1666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08297B-6967-43D5-886F-C52D65DE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29025"/>
            <a:ext cx="1552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py [GeV]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D1A202-103B-4F41-9978-01AC147A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043273-D908-452D-B656-B5A2FE14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29025"/>
            <a:ext cx="1076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2499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A6DF0E-FCAD-41E5-A698-0DA07827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8140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3B808E-3CD9-4AC9-83E6-AB36F6BA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62902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5.208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3874E0-7B52-449B-9172-C910338E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81400"/>
            <a:ext cx="1143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B71940-05A1-4996-9F3B-EC1AD6F9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629025"/>
            <a:ext cx="1028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5.837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1D8C4F-5BC6-4187-BF84-604A9937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48125"/>
            <a:ext cx="1666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C04004-D4EA-4517-8CA9-5A914F16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95750"/>
            <a:ext cx="1552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pz [GeV]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EBF7A7-389B-447B-8E3D-669B3443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1190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080970-F359-4487-9E30-92DEFE8B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1076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980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9E1E7B-6AD2-425B-9CFA-4C74DC8F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166AA8-D5DD-4958-8FD1-CA1EA72A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09575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19.136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1CABDC3-A72B-453A-A7DE-70E8F47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48125"/>
            <a:ext cx="1143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824DF8-E3EB-456A-BBF4-5134E50C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095750"/>
            <a:ext cx="1028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16.595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0D500C-8F65-41B5-898C-0260927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9530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826833-40A0-4922-B000-350D7737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The overall curve is a physics-space diagnostic. It is distinct from the native XGBoost head target RMSE.</a:t>
            </a:r>
          </a:p>
        </p:txBody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e4872052a4ffe"/>
          <a:stretch xmlns:a="http://schemas.openxmlformats.org/drawingml/2006/main"/>
        </p:blipFill>
        <p:spPr>
          <a:xfrm xmlns:a="http://schemas.openxmlformats.org/drawingml/2006/main">
            <a:off x="428625" y="1824169"/>
            <a:ext cx="5905500" cy="33049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638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414D8-1F14-4BE5-A70F-59694E1D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BOOSTING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A46FB-4E30-470E-A14D-EC11777B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Component and native-head learning curves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2D66B-9D3C-4D3A-9069-32D1463B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81EC9-B488-4BF5-8E1D-1D4FB8ED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8E002-678E-4AF7-9289-6DD8008A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D5999-34F7-4125-BF1F-EA97B137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Left: final physical-component RMSE in GeV. Right: native head RMSE for log1p(K), ux, uy, and uz. The axes therefore have different units and are not directly interchangeable.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2a69b43f14172"/>
          <a:stretch xmlns:a="http://schemas.openxmlformats.org/drawingml/2006/main"/>
        </p:blipFill>
        <p:spPr>
          <a:xfrm xmlns:a="http://schemas.openxmlformats.org/drawingml/2006/main">
            <a:off x="428625" y="1581135"/>
            <a:ext cx="5429250" cy="360048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e8a225953479e"/>
          <a:stretch xmlns:a="http://schemas.openxmlformats.org/drawingml/2006/main"/>
        </p:blipFill>
        <p:spPr>
          <a:xfrm xmlns:a="http://schemas.openxmlformats.org/drawingml/2006/main">
            <a:off x="6334125" y="1582080"/>
            <a:ext cx="5429250" cy="359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015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212015-5BA4-4DFD-B9C2-9A95CD51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FEATURE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7D3AF-C49E-4E45-B318-1BE119E1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Saved feature-gain and error-association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BAA14-1F6A-43FA-BBEC-D2F1225F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833CF-A423-4B3D-AB67-0DFBB5AC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CDF5B-2680-44F3-8A80-6B363671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9A1C9-3281-4606-A5B0-CEB206F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15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The gain chart is an XGBoost split-usage summary. Correlations and tail contrasts are descriptive associations computed on the test focus population.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f12d027f0446f"/>
          <a:stretch xmlns:a="http://schemas.openxmlformats.org/drawingml/2006/main"/>
        </p:blipFill>
        <p:spPr>
          <a:xfrm xmlns:a="http://schemas.openxmlformats.org/drawingml/2006/main">
            <a:off x="4856540" y="4524375"/>
            <a:ext cx="2478921" cy="1524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88c945ec94dac"/>
          <a:stretch xmlns:a="http://schemas.openxmlformats.org/drawingml/2006/main"/>
        </p:blipFill>
        <p:spPr>
          <a:xfrm xmlns:a="http://schemas.openxmlformats.org/drawingml/2006/main">
            <a:off x="6534262" y="1381125"/>
            <a:ext cx="4647977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e8d6bcbc54067"/>
          <a:stretch xmlns:a="http://schemas.openxmlformats.org/drawingml/2006/main"/>
        </p:blipFill>
        <p:spPr>
          <a:xfrm xmlns:a="http://schemas.openxmlformats.org/drawingml/2006/main">
            <a:off x="1002814" y="1381125"/>
            <a:ext cx="4090373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0118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3C5A42-48AA-42A9-B668-4AE3F798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TARGET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A50B2-99E5-4998-B617-CED93B51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Direct-K and log-target final physical RMSE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3C524-96A0-4B47-9753-3205FD7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Both rows use the same calibrated locked focus-test event IDs. Values are GeV, not training-space target units.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40BAF-4FF6-4D1D-8169-66193FA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10BA8-DF10-4FAC-B69A-3111F3B3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4E9D-87A0-4E95-834F-E73F6CFC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5143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2703f82c2a4933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77000" y="1524000"/>
          <a:ext xmlns:a="http://schemas.openxmlformats.org/drawingml/2006/main" cx="5143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3f241f20ee4d5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D9141-B6AF-4448-9491-595B0730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Component values: E RMSE 20.059 / 19.926, px 5.062 / 5.026, py 5.059 / 5.024, pz 18.811 / 18.690 GeV for log / direct-K respectively.</a:t>
            </a:r>
          </a:p>
        </p:txBody>
      </p:sp>
    </p:spTree>
    <p:extLst>
      <p:ext uri="{BB962C8B-B14F-4D97-AF65-F5344CB8AC3E}">
        <p14:creationId xmlns:p14="http://schemas.microsoft.com/office/powerpoint/2010/main" val="90340535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925C80-560A-4954-81F8-0AAE08D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TARGET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62E6E-5B04-45C5-99D2-0A035221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Normalized component metrics and tolerance fractions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9F983-C04B-401D-A61D-07F0DEE5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Normalization is residual divided by true total energy, avoiding a singular px/py component denominator near zero.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2834F-B650-47E6-BCDD-A06E6A56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02348-0703-4632-9613-7A4D9086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93BF4-BF18-49B4-90DB-93E51F6A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5143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e79a1711b74b1d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77000" y="1571625"/>
          <a:ext xmlns:a="http://schemas.openxmlformats.org/drawingml/2006/main" cx="5143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317b3bd3144a1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2270E-FE5E-4AFC-BD62-DCBB9C09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019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R2 values are also recorded: log/direct E 0.8789/0.8805, px 0.9676/0.9681, py 0.9671/0.9676, pz 0.8872/0.8887.</a:t>
            </a:r>
          </a:p>
        </p:txBody>
      </p:sp>
    </p:spTree>
    <p:extLst>
      <p:ext uri="{BB962C8B-B14F-4D97-AF65-F5344CB8AC3E}">
        <p14:creationId xmlns:p14="http://schemas.microsoft.com/office/powerpoint/2010/main" val="124733809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43EB06-0FDF-454A-A2B7-4777987A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ENERGY RESPONSE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66209-2072-4703-AE4E-B3497E22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Binned energy response and relative RMSE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67579-72BC-4BD6-9A2A-B908471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583C3-2EBA-4237-8ECC-06E77E7D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33BDB-D0C9-49EC-919B-966A2FCC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5191125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bdfd2922844d65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477000" y="1571625"/>
          <a:ext xmlns:a="http://schemas.openxmlformats.org/drawingml/2006/main" cx="5191125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3f06edf74f437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D42BF-2413-4E3C-9A1D-C1021F04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Eight 25-GeV focus bins. Both curves are built from final calibrated test predictions on the same event IDs.</a:t>
            </a:r>
          </a:p>
        </p:txBody>
      </p:sp>
    </p:spTree>
    <p:extLst>
      <p:ext uri="{BB962C8B-B14F-4D97-AF65-F5344CB8AC3E}">
        <p14:creationId xmlns:p14="http://schemas.microsoft.com/office/powerpoint/2010/main" val="46526304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F35664-AD34-4336-84D8-821E166B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TARGET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57912-CA67-47F5-8C40-1E12CA81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Exact locked focus-test component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91E2E-D7E8-4414-8319-E9B4C0B3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Physical GeV quantities after calibration and on-shell reconstruction; n = 50,685 for both rows.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EFBF5-8917-4F58-BADA-ABFF81D5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B7422-8AE0-4B1B-8CED-1F8D33EE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2D5E7-34D9-4AA7-AD05-AE3DF451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CAAA5-0865-4756-A3F6-36409595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D8737-2365-4C15-A8B5-5B6C4504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63E46-137C-474F-8C0A-6DEE2E28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811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266DC-CF01-4603-86FC-0388AACA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287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5E4FB-C4D4-4EDA-84FA-98E16121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38112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C7038-9D7D-44B2-BCE8-5E15BED3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28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MSE GeV^2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221F4-7987-4010-9D80-945C1546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3811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5B38F-848D-4423-955E-D64ADB0E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287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RMSE GeV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EC861-6311-4A5A-90BA-D1941E04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381125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35CFA-DF6F-4129-ADF7-37270348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2875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 GeV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873CE-9284-4334-ABFB-066263AF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6FD67-DB53-43DA-9D6F-BA82B7F9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287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Norm. RMSE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2F24C-0275-4879-A2C7-6CFBCD70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81125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FFA82-1D32-48C8-BE54-C3635F39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287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3B890-9C61-4CB7-869B-621B55C4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811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68313-0A09-4EFB-9A81-696EE6E9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287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within 10% E_true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691D7-37C8-4AE3-93A9-8BAE19AC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192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D0A8D7-E6E6-46E0-999A-8ED6795E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A5518-D82E-4EAF-B261-4437FE9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192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859447-3318-410B-B3C4-08E2E606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669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log1p(K)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7A38AF-A2BF-4191-858A-52C4B4FF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1927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B58575-A129-4E9B-86CC-F53CA63B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669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402.369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372D34-095D-4E89-9989-66899D47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192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CA4151-23DA-4628-81CF-6688A19D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669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20.059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4F94D-0718-4E24-AF7C-14623C3B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19275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6A742E-CCBB-4C08-8DB9-706F92AA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6690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11.480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C93190-A0AA-48A2-A661-83EF4A1C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192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FFB97D-3632-4E8F-8B7C-9D393D68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0.15435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2D0527-4F5A-41E4-8F97-5178E3C6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19275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D6F095-7F95-481C-8BD9-88E05284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669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0.8789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D96029-723B-4FCD-B314-04716AE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192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EDED90-61ED-472C-BF08-7A72E631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75.127%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D965AE-38D3-4EFA-91C2-D786AB40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574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1E5A53-717A-409D-B67F-D027B84C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E771B5-82AD-4EF9-87DE-A95A22A4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574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D7937E-74DE-4D32-855F-883B3D78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050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direct 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597D14-58D4-414B-91AE-E0D47B85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5742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354419-3711-4A3B-8F88-B052A5AE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397.044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3E7475-4F7D-41FB-9472-35EEE3D5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574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4A9B62-6612-42CB-955C-80D5348C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050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19.926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BDF35B-F696-4720-9CAF-93E9330B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57425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F4A465-333C-44FB-A752-C46D772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0505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11.419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E8B8AA-99B7-42F2-8507-34288493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42DDF5-6456-4F79-9A9C-77AEEC6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0.16470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C188A4-AB51-4058-BE16-63A6162A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57425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9938EA-7A3A-45C5-B339-BE574657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0.8805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1A248D-065F-43D7-85AF-676BCACA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574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994D2F-8667-4E53-8D28-A4227433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75.997%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872E34-AC0A-4CBC-9739-EB48E4CE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955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1F761D-0512-4A26-B27F-B9574E34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px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1ACF6A-027E-4C76-92A6-612E523B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955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18E5EF-4EF9-4F65-B2A9-670FC345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432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log1p(K)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6CC54E-FC0D-42CD-848B-54EBCDA2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9557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7B3AE9-AB00-4586-8D35-AB91F227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432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25.619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B5A9B5-2A52-4744-AE22-1DDF9882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955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574880-B549-45A4-BB3A-F3D3B5D3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432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5.062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3E59F9-0F1E-4E4A-A03B-C976BC58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95575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3D1301-0FBC-4651-B3E4-687E73C8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4320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2.370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178832-BAB4-4922-A708-1DDF4C61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955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ECDB11-D375-4E26-A412-64216769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0.03891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AA1081-6DBE-43C6-9D76-81054657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95575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FBC93F-88B7-4BE8-981F-C784BE10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432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0.9676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47804A-F6C8-4F08-A770-2FDB7745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955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69BE800-9227-4F98-A40C-4AE22884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96.881%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BFF0D1-A949-4C61-AF51-B90AE63E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1337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CFE056-C327-4043-8F60-8D4C2C8D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px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D65E96-A625-4CD2-B84B-C37341F4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337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1B7A59-DACB-4CE7-86E6-7B4D0F6A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direct 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918AD7B-6575-47C2-AD5B-9D6946B4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3372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A4A0EE-207C-40A4-81D5-6CF3C8FD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25.263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249CB7-D7CE-4C57-A60B-87438EF8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337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3DD065-B423-4BBE-A006-227CD53C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813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5.026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A3DAE94-0B50-469B-91A2-141178FA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33725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54F2D72-93E8-4DAC-973A-29929B29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8135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2.383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9D4588-AA07-4CA2-A57B-19E26BDA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337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81080E-D2F0-4AD5-8E1A-E6258D2D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0.04168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43A9BE2-2496-4C8F-8E50-8257D59D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33725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8B2C67-885C-4482-80F3-487A7489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813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0.9681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3DB9D84-5768-456C-9134-598A0952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337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08EF9C0-269E-4F69-8559-9A670E92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96.747%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AA4982C-8A1F-43C2-9EA3-F1C649A7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718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1EC59F5-C3ED-47C2-8F61-8C892CA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py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2F9B29D-20CF-4B2D-89CD-52F94F4E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718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F23B984-F87F-4F2B-854B-77672C85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195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log1p(K)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EC547D7-21DC-4170-A4A9-6A17EC3D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7187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5860A4E-7914-4330-B573-C5E886FB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195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25.597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021062-6932-496D-8C9B-7DECB083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718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C48CF60-2AC2-47F8-826F-46227488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195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5.059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0AA3EF4-A04C-4C7B-A52A-5A30444C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71875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44F5741-F721-483F-B278-79432112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1950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2.375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645EA5-4D89-4446-AB19-84C78D76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718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D1C0159-EB56-4CEB-8480-80BA783F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0.03911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C545D03-09F4-49D0-A767-786787BD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71875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6DD6945-CEDF-4120-B039-3A5602F9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0.9671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9EA2D7D-B8A0-4C12-B094-A5B4F96B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718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41DF18E-68BE-4B10-B2B1-C71B3D19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96.685%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4CC1877-B38E-4596-B9D0-FB4D5129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100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58E81AD-836D-4CDD-951C-9ABC7334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py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A46E05F-9A83-462C-A891-EF30A0F9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100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5BECFD9-0F06-4025-A3A4-4A16C575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76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direct K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6CE8C34-1741-4E86-8B8B-3B95887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1002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2EB90E1-D292-412E-8CE4-3FFF04CC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576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25.242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1E93EA-FA80-4A4A-B4AA-CFF06CA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100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260F3B6-9776-4BAE-A225-DCEC8EAC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576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5.024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9487DB0-DC39-4EAB-8C59-0ED7AA92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10025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BAE67F6-1D7E-489F-94B0-3FF5BA0C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5765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2.388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433B621-4D98-4132-8054-51758BDE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00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1950F3-074D-443D-8D38-4E84EBAC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0.04214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4891C1-3919-4F23-9EF1-957A08E6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10025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2871011-01EB-4D90-888B-B8922C08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0.9676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776EE3B-6612-4DFF-8040-BE395FCF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00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2B41B40-B39B-4687-BAD9-75492EBB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576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96.514%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7A503B7-D43A-4BCC-AD09-2E6E28C2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481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3E358BA-6F0F-4DFC-8968-3373615A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pz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0B6DAA0-DF74-44EA-ACBC-924D9EEC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481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160D115-F0AE-41E3-87A2-B595C597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log1p(K)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D5D9341-528C-41B2-88F1-0F0B43F9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4817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3860A10-A965-4012-966B-2FB371A7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9580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353.842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3172055-D24D-4F82-A6D1-4CE8FAA5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481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A59538-6D31-4A89-8FDB-C65D580F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958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18.811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C452DB3-6E05-46DF-8E79-BCFABA33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48175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47B9394-B665-423E-A645-A39C0257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9580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10.891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8940307-BA08-4C05-A906-AFD324DA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481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59C6782-FA9B-472B-AFAF-3BBE7D40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0.14468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7445C91-C779-467B-A726-1FEB4636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48175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7C1E727-54FF-49D8-AA88-D27395D4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0.8872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3A670FC-2B84-4131-A8C8-955893C3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481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29AB33C-494D-4D8D-B05C-63C7DBF8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9580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76.220%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5FF5988-1C0F-4E8F-9AD8-4B81E9B9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8863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8AAEB1A-D8A3-4A4E-8E83-DAEFF8F8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pz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D864AFA-EB23-41FC-997B-947F0654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863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2F44239-E5FA-4B2C-ABB4-28FC004A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direct K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E0BEBA4-AB98-45D7-94A2-D058139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8632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39E2D7D-39FB-4595-B46D-BF7F269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339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349.318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5F2EC13-7A91-4CF1-B95A-7567CFEB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863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9C8B95B-70C1-4E03-BE9F-EB0EF7A0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339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18.690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E896B41-9115-4E96-8CF8-C775341E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86325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029404B-0437-4268-9D4D-BF26B487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3395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10.826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4B120DF-867E-4780-B0EA-AB7AF9EC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863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1ACE188-9EA6-4BDF-B023-ABA6EA3F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395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0.15418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25A7708-6D69-43E3-8D7D-B0995DD8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86325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3D9D106-9B0D-47E5-A993-A5FE162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339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0.8887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EC83ED6-16A1-49EF-8650-6C008E34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863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75AE343-23C6-457C-9E57-8C105648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339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77.023%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685F1B7-763E-4B3C-90A9-8AA5B7F6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962025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EAEFC81-6A7F-4DBE-A043-020CFBAC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150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The direct-K row is trained with squared error in kinetic energy. The log-target row is trained with squared error in log1p(K), but all values above use reconstructed total energy and momentum in GeV.</a:t>
            </a:r>
          </a:p>
        </p:txBody>
      </p:sp>
    </p:spTree>
    <p:extLst>
      <p:ext uri="{BB962C8B-B14F-4D97-AF65-F5344CB8AC3E}">
        <p14:creationId xmlns:p14="http://schemas.microsoft.com/office/powerpoint/2010/main" val="21360397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6AA780-2A62-47C5-94DB-2711DAF4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SCOPE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19746-3744-453E-A477-0A878086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Pencil-beam and all-neutron scopes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5F9AA-7156-4AA0-906F-94D9296F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DF09E-A697-4A68-9B33-DCA8A385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C92F4-3B68-4679-B98F-9E76ECEE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0F3C7-57C0-4846-90AC-88BFCD9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1095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56F65-E9BF-4B61-BB9D-3342C566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98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Dataset/model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725FD-29C0-426E-8150-4CD8C5CC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573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B6F54-05D4-4A43-8A18-3CA135A3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9050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13BB7-B9E3-4A12-B800-58627309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573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3D946-5313-4462-A742-E440D108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050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MAE [GeV]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08BDC-8516-4B53-A492-9639624C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573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320C4-7D2D-4B5F-B8B5-E29B552C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050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RMSE [GeV]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65EB1-72AC-4833-AC5B-B5912BE9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857375"/>
            <a:ext cx="714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3D5F5-0842-4291-9E48-677B838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905000"/>
            <a:ext cx="600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R2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C5D8F-0F4C-4FA5-B557-679C18D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1095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C8F3B-4F24-4459-9754-447E12A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98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Pencil beam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A46A6-AE47-4DE9-A07E-F2435958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479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EDE9E-C56A-4737-AF83-1F420EC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955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100k neutrons, 50-250 GeV, energy-only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19D2A-1899-4964-895A-189E5371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1DB6D-67B7-4B93-B658-E054FAB5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9555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4.425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ED0DB-8604-4702-9C98-3386242E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4792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437A1-3E14-4BFD-B45C-0F3C01B2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9555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7.365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F606C2-3A1F-4081-AC7F-715F6312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47925"/>
            <a:ext cx="714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1E7C9-1E68-4EA3-991F-6EE3F0A5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495550"/>
            <a:ext cx="600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0.9838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8B137-B8CD-403D-A851-4948425E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8475"/>
            <a:ext cx="1095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EA0A63-21DB-41DE-8B4F-47D696E5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86100"/>
            <a:ext cx="98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All neutron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17D771-20AC-47C0-B608-5FFD3208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384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5E68E-73A6-40E4-B2CE-501398C9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0861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765k broad-angle neutrons, focus 50-250 GeV, E+px+py+pz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BF9DCA-6E41-41C5-91FB-CC4081D0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EC346D-D696-405F-851A-51F10581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86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11.480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727917-6727-4E30-93D6-9D02AE3A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384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626254-907F-42A7-8250-E3312C5E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086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20.059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98D2F5-5EF0-4A4F-9DD1-D3F4DD47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38475"/>
            <a:ext cx="714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AAEBC3-1956-4C26-8736-A246BDA2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086100"/>
            <a:ext cx="600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0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0.8789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02614F-8EAC-49DC-8E53-56986F07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5143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E7BFC4-7EB2-49E5-B2E0-5A6F7782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286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DF4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D40094-F797-461F-A5D4-E8AD0779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529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Task boundary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D9D89D-0B28-4054-A14D-C77E387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0100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The pencil-beam comparison is retained as an energy-only reference. It does not provide px, py, pz, angular, or four-vector metrics and is not merged into the all-neutron model ranking.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d63dd70d04fb2"/>
          <a:stretch xmlns:a="http://schemas.openxmlformats.org/drawingml/2006/main"/>
        </p:blipFill>
        <p:spPr>
          <a:xfrm xmlns:a="http://schemas.openxmlformats.org/drawingml/2006/main">
            <a:off x="428625" y="2535627"/>
            <a:ext cx="5238750" cy="17867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4834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7008A-37C7-44EF-B767-45FE6532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CALIBRATION AND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9371A-BB79-4135-96B0-8576C5DC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Locked-test interval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1EC4E-4A20-493D-BD20-4880BDAA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1605B-515B-4243-9914-B1B56DBA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3239C-6C0B-49E7-8BB1-5CB31354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172E8-5A91-48A0-9EC1-76A3B76F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E41A2-525E-4624-9C93-C4148666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88164-9298-444D-B47F-2D5B49C9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6B9A2-6221-4B0A-AC61-E5D58A98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6687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786BE-101B-4B90-9B59-28C639D3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A2FD6-CDF4-48B3-886F-D0F06A9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6687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abs-energy width [GeV]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428CE-EE29-4DA2-BD13-1025C4D8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758D1-4932-40BA-AA90-39464AF7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6687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Focus-test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8D7E0-67F2-4555-AC89-B52AFB8A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D3C96-DDDB-4A4E-8844-073C91D2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finalfix2 log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430AB-B309-4A63-A782-1778B2D3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717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1E6E6-E6EF-4FE9-85EA-5E015A2F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1932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68%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6C440-BE78-4ABC-A4E0-89F9BD9B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EBE76-C730-4668-83AB-C4F48EC9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193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10.017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BB0F8-50BF-444A-867E-04A75736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1786C-7072-4135-8A79-B6278D7F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1932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68.077%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1B07C-0240-44A7-9053-9834F44C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9B62B-F868-431D-AB83-9469EC83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finalfix2 log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0A3BE7-0402-4AF6-99E9-E2B6D614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0BE41-5438-4F7A-9AAC-CD9B988C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7177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6CF613-FF75-4ECC-8856-F8EB9729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54B0CE-456C-4FE5-A83C-2ACEF5BC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7177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27.994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F0E4D-99DA-4B47-8DBF-B682E493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BF4E8C-85D9-403E-B38E-A799604E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7177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90.212%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FD5CFD-0E86-4E71-BB17-5F633D0A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6D19A9-104C-455C-B761-A30B78D8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finalfix2 log target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338F2F-DE65-4CE5-BC68-A2955BC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FFBA7A-DAE3-4196-971F-3B2D9D9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2422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16A6D1-8C07-44AB-9673-AA55F29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4C6C5A-C7B4-4EC5-9EC8-924E1F52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242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43.114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6A796C-6309-4D18-A70F-0B80A4EA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766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B5A5C4-0900-4538-8E8B-C0B583B0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2422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95.056%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F12D86-C276-4BCA-B22E-31382935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F05B80-3881-4EA5-AD2F-540C0A2D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direct-K retrain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036755-2A0C-4B4F-A9B2-2313C5B5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F946D3-58AF-4BFC-B714-01BBB8D7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7667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68%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4847E4-265D-45AF-882D-9C3A7DC5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6D579D-557F-4150-BA3B-C58614EC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7667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stored calibration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10C3F9-48B0-4742-BE95-487E9C2B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F25F9E-C2E4-4766-87DD-4AD1972B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7667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68.200%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0A0357-4FB9-43FD-8BE1-9DD4AA7C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7CA366-7DD2-490A-9F25-C71F769E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direct-K retrain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2BF210-380A-4E70-B273-6F3BF6F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94BA8B-5B26-4D22-81D2-984135CD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2912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3161C6-995D-4B79-90C4-696A685A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714DAE-66E9-45FE-99E1-1B42991D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291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stored calibration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43674D-F38C-4D41-889C-83D37AD2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81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4013BD-3F75-42AD-86EE-6F3F47B0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2912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90.038%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850F27-0E2D-49F0-8709-F61A6A29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B3F411-A1F2-4927-AD22-66E690D8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15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direct-K retrain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8E1E95-24EE-479E-BF79-402ECFD0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0E3CC0-C747-4513-8F1B-2492BF46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81575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34F81C-ADE3-4D3A-B583-BDB0215C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339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29F218-19E8-49D6-907F-9A94D1C0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8157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stored calibration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2179F4-2780-45B7-972F-F526A126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339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2C02FF-4D2A-4604-91AB-DFCF8396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81575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95.178%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2602F5-5425-48F5-819E-4F53E36D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2392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C88B16-47E1-4375-B414-D7EE83BB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428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D6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A13926-3EEF-4B97-BFC9-AD270342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53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Procedure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27E47B-117A-4F59-8A84-C7648741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102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A linear energy calibration is fitted after validation model selection. The direction is retained, kinetic energy is recomputed, and the output is projected on shell before test scoring.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61BDA2-105B-47F9-A372-5D9010E7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28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2BF"/>
          </a:solidFill>
          <a:ln xmlns:a="http://schemas.openxmlformats.org/drawingml/2006/main" w="7620">
            <a:solidFill>
              <a:srgbClr val="C7CDD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9C0C8A-B55D-4AC0-B7B6-9A69C1F6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53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Coverage label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A2617F-5FFB-4DFD-9E2C-9E7BBCCD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102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These are empirical validation-residual intervals verified once on test. They are not presented as a separate formal split-conformal guarantee.</a:t>
            </a:r>
          </a:p>
        </p:txBody>
      </p:sp>
    </p:spTree>
    <p:extLst>
      <p:ext uri="{BB962C8B-B14F-4D97-AF65-F5344CB8AC3E}">
        <p14:creationId xmlns:p14="http://schemas.microsoft.com/office/powerpoint/2010/main" val="136327601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731341-48F4-4CB2-89C7-A5CADC8F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ED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ED8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FD4D5-2F31-4ABD-B4C4-B551596C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Artifacts, metrics, and model status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F6C55-ECE9-4E82-9FC4-2FB13977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E6470-8483-4AEB-A7A6-7AAF602A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ASIoP ZDC all-neutron reconstruction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06786-A303-4610-BD1B-2BB355FD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048CE-C285-4256-8E40-60D5DDB3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8B6F2-E716-40C6-A1F4-A6A8461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 class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6FC81-D0EF-467F-9EE5-BAF55180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287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93F90-06AC-4A2F-A7AC-CB59D01F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476375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59577-EB24-407A-BC99-66E3EA6A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EF8A5-48BF-47F7-808A-F552DCB6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76375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contains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E5582-FA82-41AC-B1A3-D6F97FE3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764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5012A-1AF9-40B1-8545-9ED3FE32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Archived finalfix2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3A0E4-DDD7-47BF-9174-6625530C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91585-18A0-4621-A984-CE17C04B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24075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ML ZDC all / outputs/presentation_analysis/all_neutron_finalfix2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44E9E-4458-43A3-9998-01E928DD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F8B0B-6641-48DB-AFD9-49B931D7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24075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candidate models, calibrated predictions, validation leaderboard, locked test metrics, plots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D8009-BF48-4CA7-8F98-5D8F89CA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6FD37-572D-467B-8273-76790B40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Loss-curve extension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F4E94-231B-47C5-BE05-E8ACC867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2E372-EB31-4255-9FC4-1B4E7C2E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71775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ML ZDC all / outputs/presentation_analysis/loss_curves_vertex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DBF8C-2BD7-40E2-9EE0-7C73F5C2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C1897-FA4C-412C-8C37-5177F922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71775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overall/component/native losses, feature-error diagnostics, slice diagnostics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80779E-DFBA-4C66-A401-EEB6001A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C0395D-F7C2-46AF-8626-B3D625CE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194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Historical Vertex runs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813EF-5356-432A-993E-861839D1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FC974-5D25-47FE-8D00-942B14DA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19475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ML ZDC all 1 / outputs/reports/previous_vertex_jobs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E36DD-F320-4044-B980-28BE4F13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71850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23026-BEBE-44D2-B385-89A0060E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19475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base full-cpu, finalfix, finalfix2 job records and metrics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E08CCD-DD5D-4E90-9310-463B3A6C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2F3F10-EFD6-4A0C-88AF-8E40E551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671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Direct-K retrain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9E3E6F-D6CF-41F2-B94D-4C04C052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95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1F8547-088E-41C8-AB03-F0CF6619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67175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Vertex gs://.../runs/raw-kinetic-mse-20260713-51b0ff0/outputs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BEE350-31EE-4161-AB26-113E8909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9550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F3769-7B84-4C50-97EB-EE172C5D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67175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raw kinetic target models, calibration, locked test metrics, component comparison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04EDE6-E184-4ABF-857B-E7947EB8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672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54E8BF-CDCC-4429-866D-64C84A52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Design-only entries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F6416A-E94C-4423-B7A7-7C16B223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067D21-70D4-40E9-9A4F-63503CC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14875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ML ZDC all 1 / docs/MODEL_DESIGN.md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91FA50-4EB9-4526-BA19-1858284A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C7CD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DE347E-CA78-4343-8EF1-9BFB2E03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14875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0384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03841"/>
                </a:solidFill>
                <a:latin typeface="Arial"/>
                <a:ea typeface="Arial"/>
                <a:cs typeface="Arial"/>
              </a:rPr>
              <a:t>N1 dual-grid, H1 blend, G1 Deep Sets/GNN definitions without archived training 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2426DE-A41E-41FE-9302-47441476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12395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7CDD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6DB370-1401-46DE-83A3-E87A5134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17A"/>
                </a:solidFill>
                <a:latin typeface="Arial"/>
                <a:ea typeface="Arial"/>
                <a:cs typeface="Arial"/>
              </a:rPr>
              <a:t>Presentation evidence: saved Vertex artifacts and archived diagnostic figures. No new model training is performed for this deck.</a:t>
            </a:r>
          </a:p>
        </p:txBody>
      </p:sp>
    </p:spTree>
    <p:extLst>
      <p:ext uri="{BB962C8B-B14F-4D97-AF65-F5344CB8AC3E}">
        <p14:creationId xmlns:p14="http://schemas.microsoft.com/office/powerpoint/2010/main" val="2144439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2026-07-13T03:43:23.4430000Z</dcterms:created>
  <dcterms:modified xsi:type="dcterms:W3CDTF">2026-07-13T03:43:23.4440000Z</dcterms:modified>
</coreProperties>
</file>